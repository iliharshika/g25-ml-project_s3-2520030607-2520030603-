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393" r:id="rId3"/>
    <p:sldId id="400" r:id="rId19"/>
    <p:sldId id="401" r:id="rId20"/>
    <p:sldId id="402" r:id="rId21"/>
    <p:sldId id="403" r:id="rId22"/>
    <p:sldId id="404" r:id="rId23"/>
    <p:sldId id="40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48D3FC-5632-4088-ACE2-C0F4F2DEB4EC}" v="10" dt="2026-08-26T10:12:01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76" autoAdjust="0"/>
    <p:restoredTop sz="95033" autoAdjust="0"/>
  </p:normalViewPr>
  <p:slideViewPr>
    <p:cSldViewPr snapToGrid="0" snapToObjects="1">
      <p:cViewPr varScale="1">
        <p:scale>
          <a:sx n="72" d="100"/>
          <a:sy n="72" d="100"/>
        </p:scale>
        <p:origin x="77" y="19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  <Relationship Id="rId19" Type="http://schemas.openxmlformats.org/officeDocument/2006/relationships/slide" Target="slides/slide9.xml"/>
  <Relationship Id="rId20" Type="http://schemas.openxmlformats.org/officeDocument/2006/relationships/slide" Target="slides/slide10.xml"/>
  <Relationship Id="rId21" Type="http://schemas.openxmlformats.org/officeDocument/2006/relationships/slide" Target="slides/slide11.xml"/>
  <Relationship Id="rId22" Type="http://schemas.openxmlformats.org/officeDocument/2006/relationships/slide" Target="slides/slide12.xml"/>
  <Relationship Id="rId23" Type="http://schemas.openxmlformats.org/officeDocument/2006/relationships/slide" Target="slides/slide13.xml"/>
  <Relationship Id="rId24" Type="http://schemas.openxmlformats.org/officeDocument/2006/relationships/slide" Target="slides/slide14.xml"/>
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26-08-2026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26-08-2026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26-08-2026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26-08-2026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26-08-2026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26-08-2026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26-08-2026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26-08-2026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26-08-2026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D71C9-B9EF-7661-6994-7DB6318A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177" y="1878345"/>
            <a:ext cx="10515600" cy="2594344"/>
          </a:xfrm>
        </p:spPr>
        <p:txBody>
          <a:bodyPr>
            <a:normAutofit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756DA-BD99-3686-3F2A-02D654C56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29-09-2026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AE618-514B-8CF8-C225-89BC86D6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1D452-F765-BFE0-8752-3B3E2EA4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57BB9-1479-ECEB-E8CC-92B9AC7EC218}"/>
              </a:ext>
            </a:extLst>
          </p:cNvPr>
          <p:cNvSpPr txBox="1"/>
          <p:nvPr/>
        </p:nvSpPr>
        <p:spPr>
          <a:xfrm>
            <a:off x="223284" y="1431437"/>
            <a:ext cx="117915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4800" dirty="0"/>
          </a:p>
          <a:p>
            <a:pPr algn="ctr"/>
            <a:r>
              <a:rPr lang="en-IN" sz="4800" b="1" dirty="0">
                <a:latin typeface="Aptos Display" panose="020B0004020202020204" pitchFamily="34" charset="0"/>
              </a:rPr>
              <a:t>Player Statistics Visualization     </a:t>
            </a:r>
          </a:p>
          <a:p>
            <a:pPr algn="ctr"/>
            <a:r>
              <a:rPr lang="en-IN" sz="4800" b="1" dirty="0">
                <a:latin typeface="Aptos Display" panose="020B0004020202020204" pitchFamily="34" charset="0"/>
              </a:rPr>
              <a:t> using PCA &amp; UMAP</a:t>
            </a:r>
          </a:p>
          <a:p>
            <a:pPr algn="ctr"/>
            <a:endParaRPr lang="en-IN" sz="4800" dirty="0"/>
          </a:p>
          <a:p>
            <a:pPr algn="ctr"/>
            <a:endParaRPr lang="en-IN" sz="4800" dirty="0"/>
          </a:p>
          <a:p>
            <a:pPr algn="ctr"/>
            <a:endParaRPr lang="en-IN" sz="4800" dirty="0"/>
          </a:p>
          <a:p>
            <a:pPr algn="ctr"/>
            <a:r>
              <a:rPr lang="en-IN" dirty="0"/>
              <a:t>                                                                                                                                               </a:t>
            </a:r>
          </a:p>
          <a:p>
            <a:pPr algn="ctr"/>
            <a:r>
              <a:rPr lang="en-IN" dirty="0"/>
              <a:t>                                                                                                                                       Ili.Harshika-2520030607</a:t>
            </a:r>
          </a:p>
          <a:p>
            <a:pPr algn="ctr"/>
            <a:r>
              <a:rPr lang="en-IN" dirty="0"/>
              <a:t>                                                                                                                                             Siri Chandana – 2520030603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563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B12-B1C5-EAAF-3801-24EB3372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0" y="274320"/>
            <a:ext cx="9079992" cy="777240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0B1F44"/>
                </a:solidFill>
                <a:latin typeface="Calibri"/>
                <a:cs typeface="Calibri"/>
              </a:rPr>
              <a:t>1. 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A50F-24A9-8596-5039-AD9A6BA2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29-09-2026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01E2-1FF9-5D78-E2DE-74ABBEC8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0BFE-4CC6-6B70-BE50-158E40AE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48640" y="1280160"/>
            <a:ext cx="557784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F2937"/>
                </a:solidFill>
                <a:latin typeface="Calibri"/>
                <a:cs typeface="Calibri"/>
              </a:rPr>
              <a:t>Football datasets describe thousands of players through many attributes at once. Analyzing them together is difficult because player data is </a:t>
            </a:r>
            <a:r>
              <a:rPr lang="en-US" sz="1500" b="1" i="0" dirty="0">
                <a:solidFill>
                  <a:srgbClr val="1E3A8A"/>
                </a:solidFill>
                <a:latin typeface="Calibri"/>
                <a:cs typeface="Calibri"/>
              </a:rPr>
              <a:t>high-dimensional.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8640" y="233172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6803F"/>
                </a:solidFill>
                <a:latin typeface="Calibri"/>
                <a:cs typeface="Calibri"/>
              </a:rPr>
              <a:t>SELECTED PLAYER ATTRIBUTES</a:t>
            </a:r>
          </a:p>
        </p:txBody>
      </p:sp>
      <p:sp>
        <p:nvSpPr>
          <p:cNvPr id="23" name="Chip 23"/>
          <p:cNvSpPr/>
          <p:nvPr/>
        </p:nvSpPr>
        <p:spPr>
          <a:xfrm>
            <a:off x="548640" y="2697480"/>
            <a:ext cx="1298448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45720" tIns="18288" rIns="4572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B1F44"/>
                </a:solidFill>
                <a:latin typeface="Calibri"/>
                <a:cs typeface="Calibri"/>
              </a:rPr>
              <a:t>Age</a:t>
            </a:r>
          </a:p>
        </p:txBody>
      </p:sp>
      <p:sp>
        <p:nvSpPr>
          <p:cNvPr id="24" name="Chip 24"/>
          <p:cNvSpPr/>
          <p:nvPr/>
        </p:nvSpPr>
        <p:spPr>
          <a:xfrm>
            <a:off x="1956816" y="2697480"/>
            <a:ext cx="1298448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45720" tIns="18288" rIns="4572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B1F44"/>
                </a:solidFill>
                <a:latin typeface="Calibri"/>
                <a:cs typeface="Calibri"/>
              </a:rPr>
              <a:t>Overall Rating</a:t>
            </a:r>
          </a:p>
        </p:txBody>
      </p:sp>
      <p:sp>
        <p:nvSpPr>
          <p:cNvPr id="25" name="Chip 25"/>
          <p:cNvSpPr/>
          <p:nvPr/>
        </p:nvSpPr>
        <p:spPr>
          <a:xfrm>
            <a:off x="3364992" y="2697480"/>
            <a:ext cx="1298448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45720" tIns="18288" rIns="4572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B1F44"/>
                </a:solidFill>
                <a:latin typeface="Calibri"/>
                <a:cs typeface="Calibri"/>
              </a:rPr>
              <a:t>Potential</a:t>
            </a:r>
          </a:p>
        </p:txBody>
      </p:sp>
      <p:sp>
        <p:nvSpPr>
          <p:cNvPr id="26" name="Chip 26"/>
          <p:cNvSpPr/>
          <p:nvPr/>
        </p:nvSpPr>
        <p:spPr>
          <a:xfrm>
            <a:off x="4773168" y="2697480"/>
            <a:ext cx="1298448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45720" tIns="18288" rIns="4572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B1F44"/>
                </a:solidFill>
                <a:latin typeface="Calibri"/>
                <a:cs typeface="Calibri"/>
              </a:rPr>
              <a:t>Special Rating</a:t>
            </a:r>
          </a:p>
        </p:txBody>
      </p:sp>
      <p:sp>
        <p:nvSpPr>
          <p:cNvPr id="27" name="Chip 27"/>
          <p:cNvSpPr/>
          <p:nvPr/>
        </p:nvSpPr>
        <p:spPr>
          <a:xfrm>
            <a:off x="548640" y="3374136"/>
            <a:ext cx="1298448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45720" tIns="18288" rIns="4572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B1F44"/>
                </a:solidFill>
                <a:latin typeface="Calibri"/>
                <a:cs typeface="Calibri"/>
              </a:rPr>
              <a:t>International Reputation</a:t>
            </a:r>
          </a:p>
        </p:txBody>
      </p:sp>
      <p:sp>
        <p:nvSpPr>
          <p:cNvPr id="28" name="Chip 28"/>
          <p:cNvSpPr/>
          <p:nvPr/>
        </p:nvSpPr>
        <p:spPr>
          <a:xfrm>
            <a:off x="1956816" y="3374136"/>
            <a:ext cx="1298448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45720" tIns="18288" rIns="4572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B1F44"/>
                </a:solidFill>
                <a:latin typeface="Calibri"/>
                <a:cs typeface="Calibri"/>
              </a:rPr>
              <a:t>Weak Foot</a:t>
            </a:r>
          </a:p>
        </p:txBody>
      </p:sp>
      <p:sp>
        <p:nvSpPr>
          <p:cNvPr id="29" name="Chip 29"/>
          <p:cNvSpPr/>
          <p:nvPr/>
        </p:nvSpPr>
        <p:spPr>
          <a:xfrm>
            <a:off x="3364992" y="3374136"/>
            <a:ext cx="1298448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45720" tIns="18288" rIns="45720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B1F44"/>
                </a:solidFill>
                <a:latin typeface="Calibri"/>
                <a:cs typeface="Calibri"/>
              </a:rPr>
              <a:t>Skill Moves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8640" y="404164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B6B85"/>
                </a:solidFill>
                <a:latin typeface="Calibri"/>
                <a:cs typeface="Calibri"/>
              </a:rPr>
              <a:t>7 attributes per player  →  hard to inspect together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B1F44"/>
                </a:solidFill>
                <a:latin typeface="Calibri"/>
                <a:cs typeface="Calibri"/>
              </a:rPr>
              <a:t>Tables &amp; individual comparisons may not reveal:</a:t>
            </a:r>
          </a:p>
        </p:txBody>
      </p:sp>
      <p:sp>
        <p:nvSpPr>
          <p:cNvPr id="32" name="Card 32"/>
          <p:cNvSpPr/>
          <p:nvPr/>
        </p:nvSpPr>
        <p:spPr>
          <a:xfrm>
            <a:off x="6400800" y="17373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3" name="Badge 33"/>
          <p:cNvSpPr/>
          <p:nvPr/>
        </p:nvSpPr>
        <p:spPr>
          <a:xfrm>
            <a:off x="6537960" y="187452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37960" y="239572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2937"/>
                </a:solidFill>
                <a:latin typeface="Calibri"/>
                <a:cs typeface="Calibri"/>
              </a:rPr>
              <a:t>Similar player profiles</a:t>
            </a:r>
          </a:p>
        </p:txBody>
      </p:sp>
      <p:sp>
        <p:nvSpPr>
          <p:cNvPr id="35" name="Card 35"/>
          <p:cNvSpPr/>
          <p:nvPr/>
        </p:nvSpPr>
        <p:spPr>
          <a:xfrm>
            <a:off x="9052560" y="17373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6" name="Badge 36"/>
          <p:cNvSpPr/>
          <p:nvPr/>
        </p:nvSpPr>
        <p:spPr>
          <a:xfrm>
            <a:off x="9189720" y="187452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89720" y="239572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2937"/>
                </a:solidFill>
                <a:latin typeface="Calibri"/>
                <a:cs typeface="Calibri"/>
              </a:rPr>
              <a:t>Groups of players</a:t>
            </a:r>
          </a:p>
        </p:txBody>
      </p:sp>
      <p:sp>
        <p:nvSpPr>
          <p:cNvPr id="38" name="Card 38"/>
          <p:cNvSpPr/>
          <p:nvPr/>
        </p:nvSpPr>
        <p:spPr>
          <a:xfrm>
            <a:off x="6400800" y="31089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9" name="Badge 39"/>
          <p:cNvSpPr/>
          <p:nvPr/>
        </p:nvSpPr>
        <p:spPr>
          <a:xfrm>
            <a:off x="6537960" y="324612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37960" y="376732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2937"/>
                </a:solidFill>
                <a:latin typeface="Calibri"/>
                <a:cs typeface="Calibri"/>
              </a:rPr>
              <a:t>Relationships between multiple attributes</a:t>
            </a:r>
          </a:p>
        </p:txBody>
      </p:sp>
      <p:sp>
        <p:nvSpPr>
          <p:cNvPr id="41" name="Card 41"/>
          <p:cNvSpPr/>
          <p:nvPr/>
        </p:nvSpPr>
        <p:spPr>
          <a:xfrm>
            <a:off x="9052560" y="3108960"/>
            <a:ext cx="2560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2" name="Badge 42"/>
          <p:cNvSpPr/>
          <p:nvPr/>
        </p:nvSpPr>
        <p:spPr>
          <a:xfrm>
            <a:off x="9189720" y="3246120"/>
            <a:ext cx="457200" cy="45720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189720" y="376732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F2937"/>
                </a:solidFill>
                <a:latin typeface="Calibri"/>
                <a:cs typeface="Calibri"/>
              </a:rPr>
              <a:t>Hidden patterns in the dataset</a:t>
            </a:r>
          </a:p>
        </p:txBody>
      </p:sp>
      <p:sp>
        <p:nvSpPr>
          <p:cNvPr id="44" name="Banner 44"/>
          <p:cNvSpPr/>
          <p:nvPr/>
        </p:nvSpPr>
        <p:spPr>
          <a:xfrm>
            <a:off x="548640" y="4709160"/>
            <a:ext cx="11064240" cy="960120"/>
          </a:xfrm>
          <a:prstGeom prst="roundRect">
            <a:avLst>
              <a:gd name="adj" fmla="val 10000"/>
            </a:avLst>
          </a:prstGeom>
          <a:solidFill>
            <a:srgbClr val="0B1F44"/>
          </a:solidFill>
          <a:ln>
            <a:noFill/>
          </a:ln>
        </p:spPr>
        <p:txBody>
          <a:bodyPr wrap="square" lIns="274320" tIns="73152" rIns="274320" bIns="7315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6EE7A0"/>
                </a:solidFill>
                <a:latin typeface="Calibri"/>
                <a:cs typeface="Calibri"/>
              </a:rPr>
              <a:t>The need: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 Machine Learning-based approach that reduces the dimensionality of player data and gives an effective visual representation. Our project uses </a:t>
            </a: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PCA and UMAP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 to transform multiple player attributes into a 2D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050238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B12-B1C5-EAAF-3801-24EB3372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0" y="274320"/>
            <a:ext cx="9079992" cy="777240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0B1F44"/>
                </a:solidFill>
                <a:latin typeface="Calibri"/>
                <a:cs typeface="Calibri"/>
              </a:rPr>
              <a:t>2. Case Scenario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A50F-24A9-8596-5039-AD9A6BA2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29-09-2026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01E2-1FF9-5D78-E2DE-74ABBEC8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0BFE-4CC6-6B70-BE50-158E40AE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21" name="Card 21"/>
          <p:cNvSpPr/>
          <p:nvPr/>
        </p:nvSpPr>
        <p:spPr>
          <a:xfrm>
            <a:off x="548640" y="1280160"/>
            <a:ext cx="32918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2" name="Head 22"/>
          <p:cNvSpPr/>
          <p:nvPr/>
        </p:nvSpPr>
        <p:spPr>
          <a:xfrm>
            <a:off x="1024128" y="1508760"/>
            <a:ext cx="329184" cy="329184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3" name="Body 23"/>
          <p:cNvSpPr/>
          <p:nvPr/>
        </p:nvSpPr>
        <p:spPr>
          <a:xfrm>
            <a:off x="859536" y="1887322"/>
            <a:ext cx="658368" cy="44439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783080" y="150876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B1F44"/>
                </a:solidFill>
                <a:latin typeface="Calibri"/>
                <a:cs typeface="Calibri"/>
              </a:rPr>
              <a:t>Football Analyst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6B85"/>
                </a:solidFill>
                <a:latin typeface="Calibri"/>
                <a:cs typeface="Calibri"/>
              </a:rPr>
              <a:t>Working with player data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7240" y="251460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2937"/>
                </a:solidFill>
                <a:latin typeface="Calibri"/>
                <a:cs typeface="Calibri"/>
              </a:rPr>
              <a:t>Wants to find players with similar attribute profiles.</a:t>
            </a:r>
          </a:p>
        </p:txBody>
      </p:sp>
      <p:cxnSp>
        <p:nvCxnSpPr>
          <p:cNvPr id="26" name="Arrow 26"/>
          <p:cNvCxnSpPr/>
          <p:nvPr/>
        </p:nvCxnSpPr>
        <p:spPr>
          <a:xfrm>
            <a:off x="3886200" y="2258568"/>
            <a:ext cx="320040" cy="0"/>
          </a:xfrm>
          <a:prstGeom prst="line">
            <a:avLst/>
          </a:prstGeom>
          <a:ln w="31750">
            <a:solidFill>
              <a:srgbClr val="22A559"/>
            </a:solidFill>
            <a:tailEnd type="triangle" w="med" len="med"/>
          </a:ln>
        </p:spPr>
      </p:cxnSp>
      <p:sp>
        <p:nvSpPr>
          <p:cNvPr id="27" name="Card 27"/>
          <p:cNvSpPr/>
          <p:nvPr/>
        </p:nvSpPr>
        <p:spPr>
          <a:xfrm>
            <a:off x="4251960" y="1280160"/>
            <a:ext cx="356616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8" name="Ball 28"/>
          <p:cNvSpPr/>
          <p:nvPr/>
        </p:nvSpPr>
        <p:spPr>
          <a:xfrm>
            <a:off x="4434840" y="14630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44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9" name="Ball patch 29"/>
          <p:cNvSpPr/>
          <p:nvPr/>
        </p:nvSpPr>
        <p:spPr>
          <a:xfrm>
            <a:off x="4567428" y="1595628"/>
            <a:ext cx="192024" cy="192024"/>
          </a:xfrm>
          <a:prstGeom prst="pentagon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5029200" y="1444752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B1F44"/>
                </a:solidFill>
                <a:latin typeface="Calibri"/>
                <a:cs typeface="Calibri"/>
              </a:rPr>
              <a:t>FIFA23 Official Player Dataset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B6B85"/>
                </a:solidFill>
                <a:latin typeface="Calibri"/>
                <a:cs typeface="Calibri"/>
              </a:rPr>
              <a:t>Thousands of players</a:t>
            </a:r>
          </a:p>
        </p:txBody>
      </p:sp>
      <p:sp>
        <p:nvSpPr>
          <p:cNvPr id="31" name="Row 31"/>
          <p:cNvSpPr/>
          <p:nvPr/>
        </p:nvSpPr>
        <p:spPr>
          <a:xfrm>
            <a:off x="4434840" y="2103120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D6E0F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2" name="Row 32"/>
          <p:cNvSpPr/>
          <p:nvPr/>
        </p:nvSpPr>
        <p:spPr>
          <a:xfrm>
            <a:off x="5532120" y="2103120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D6E0F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3" name="Row 33"/>
          <p:cNvSpPr/>
          <p:nvPr/>
        </p:nvSpPr>
        <p:spPr>
          <a:xfrm>
            <a:off x="6629400" y="2103120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D6E0F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4" name="Row 34"/>
          <p:cNvSpPr/>
          <p:nvPr/>
        </p:nvSpPr>
        <p:spPr>
          <a:xfrm>
            <a:off x="4434840" y="2304288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EEF3F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5" name="Row 35"/>
          <p:cNvSpPr/>
          <p:nvPr/>
        </p:nvSpPr>
        <p:spPr>
          <a:xfrm>
            <a:off x="5532120" y="2304288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EEF3F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6" name="Row 36"/>
          <p:cNvSpPr/>
          <p:nvPr/>
        </p:nvSpPr>
        <p:spPr>
          <a:xfrm>
            <a:off x="6629400" y="2304288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EEF3F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7" name="Row 37"/>
          <p:cNvSpPr/>
          <p:nvPr/>
        </p:nvSpPr>
        <p:spPr>
          <a:xfrm>
            <a:off x="4434840" y="2505456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EEF3F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8" name="Row 38"/>
          <p:cNvSpPr/>
          <p:nvPr/>
        </p:nvSpPr>
        <p:spPr>
          <a:xfrm>
            <a:off x="5532120" y="2505456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EEF3F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9" name="Row 39"/>
          <p:cNvSpPr/>
          <p:nvPr/>
        </p:nvSpPr>
        <p:spPr>
          <a:xfrm>
            <a:off x="6629400" y="2505456"/>
            <a:ext cx="1005840" cy="128016"/>
          </a:xfrm>
          <a:prstGeom prst="roundRect">
            <a:avLst>
              <a:gd name="adj" fmla="val 30000"/>
            </a:avLst>
          </a:prstGeom>
          <a:solidFill>
            <a:srgbClr val="EEF3F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0" name="TextBox 40"/>
          <p:cNvSpPr txBox="1"/>
          <p:nvPr/>
        </p:nvSpPr>
        <p:spPr>
          <a:xfrm>
            <a:off x="4434840" y="2743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dirty="0">
                <a:solidFill>
                  <a:srgbClr val="5B6B85"/>
                </a:solidFill>
                <a:latin typeface="Calibri"/>
                <a:cs typeface="Calibri"/>
              </a:rPr>
              <a:t>Age · Overall · Potential · Special · Int. Reputation · Weak Foot · Skill Moves</a:t>
            </a:r>
          </a:p>
        </p:txBody>
      </p:sp>
      <p:cxnSp>
        <p:nvCxnSpPr>
          <p:cNvPr id="41" name="Arrow 41"/>
          <p:cNvCxnSpPr/>
          <p:nvPr/>
        </p:nvCxnSpPr>
        <p:spPr>
          <a:xfrm>
            <a:off x="7863840" y="2258568"/>
            <a:ext cx="320040" cy="0"/>
          </a:xfrm>
          <a:prstGeom prst="line">
            <a:avLst/>
          </a:prstGeom>
          <a:ln w="31750">
            <a:solidFill>
              <a:srgbClr val="22A559"/>
            </a:solidFill>
            <a:tailEnd type="triangle" w="med" len="med"/>
          </a:ln>
        </p:spPr>
      </p:cxnSp>
      <p:sp>
        <p:nvSpPr>
          <p:cNvPr id="42" name="Card 42"/>
          <p:cNvSpPr/>
          <p:nvPr/>
        </p:nvSpPr>
        <p:spPr>
          <a:xfrm>
            <a:off x="8229600" y="1280160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8412480" y="13898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B1F44"/>
                </a:solidFill>
                <a:latin typeface="Calibri"/>
                <a:cs typeface="Calibri"/>
              </a:rPr>
              <a:t>Players with similar mix of:</a:t>
            </a:r>
          </a:p>
        </p:txBody>
      </p:sp>
      <p:sp>
        <p:nvSpPr>
          <p:cNvPr id="44" name="Chip 44"/>
          <p:cNvSpPr/>
          <p:nvPr/>
        </p:nvSpPr>
        <p:spPr>
          <a:xfrm>
            <a:off x="8412480" y="1801368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E6F5EC"/>
          </a:solidFill>
          <a:ln w="12700">
            <a:solidFill>
              <a:srgbClr val="22A559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6803F"/>
                </a:solidFill>
                <a:latin typeface="Calibri"/>
                <a:cs typeface="Calibri"/>
              </a:rPr>
              <a:t>Overall Rating</a:t>
            </a:r>
          </a:p>
        </p:txBody>
      </p:sp>
      <p:sp>
        <p:nvSpPr>
          <p:cNvPr id="45" name="Chip 45"/>
          <p:cNvSpPr/>
          <p:nvPr/>
        </p:nvSpPr>
        <p:spPr>
          <a:xfrm>
            <a:off x="9966960" y="1801368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E6F5EC"/>
          </a:solidFill>
          <a:ln w="12700">
            <a:solidFill>
              <a:srgbClr val="22A559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6803F"/>
                </a:solidFill>
                <a:latin typeface="Calibri"/>
                <a:cs typeface="Calibri"/>
              </a:rPr>
              <a:t>Potential</a:t>
            </a:r>
          </a:p>
        </p:txBody>
      </p:sp>
      <p:sp>
        <p:nvSpPr>
          <p:cNvPr id="46" name="Chip 46"/>
          <p:cNvSpPr/>
          <p:nvPr/>
        </p:nvSpPr>
        <p:spPr>
          <a:xfrm>
            <a:off x="8412480" y="2459736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E6F5EC"/>
          </a:solidFill>
          <a:ln w="12700">
            <a:solidFill>
              <a:srgbClr val="22A559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6803F"/>
                </a:solidFill>
                <a:latin typeface="Calibri"/>
                <a:cs typeface="Calibri"/>
              </a:rPr>
              <a:t>Special Rating</a:t>
            </a:r>
          </a:p>
        </p:txBody>
      </p:sp>
      <p:sp>
        <p:nvSpPr>
          <p:cNvPr id="47" name="Chip 47"/>
          <p:cNvSpPr/>
          <p:nvPr/>
        </p:nvSpPr>
        <p:spPr>
          <a:xfrm>
            <a:off x="9966960" y="2459736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E6F5EC"/>
          </a:solidFill>
          <a:ln w="12700">
            <a:solidFill>
              <a:srgbClr val="22A559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6803F"/>
                </a:solidFill>
                <a:latin typeface="Calibri"/>
                <a:cs typeface="Calibri"/>
              </a:rPr>
              <a:t>Skill Moves</a:t>
            </a:r>
          </a:p>
        </p:txBody>
      </p:sp>
      <p:sp>
        <p:nvSpPr>
          <p:cNvPr id="48" name="Card 48"/>
          <p:cNvSpPr/>
          <p:nvPr/>
        </p:nvSpPr>
        <p:spPr>
          <a:xfrm>
            <a:off x="548640" y="347472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9" name="Badge 49"/>
          <p:cNvSpPr/>
          <p:nvPr/>
        </p:nvSpPr>
        <p:spPr>
          <a:xfrm>
            <a:off x="713232" y="3749040"/>
            <a:ext cx="502920" cy="50292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!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71600" y="3566160"/>
            <a:ext cx="45262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0B1F44"/>
                </a:solidFill>
                <a:latin typeface="Calibri"/>
                <a:cs typeface="Calibri"/>
              </a:rPr>
              <a:t>Challenge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2937"/>
                </a:solidFill>
                <a:latin typeface="Calibri"/>
                <a:cs typeface="Calibri"/>
              </a:rPr>
              <a:t>Manually comparing these attributes for thousands of players is difficult and time-consuming.</a:t>
            </a:r>
          </a:p>
        </p:txBody>
      </p:sp>
      <p:sp>
        <p:nvSpPr>
          <p:cNvPr id="51" name="Card 51"/>
          <p:cNvSpPr/>
          <p:nvPr/>
        </p:nvSpPr>
        <p:spPr>
          <a:xfrm>
            <a:off x="6172200" y="3474720"/>
            <a:ext cx="54406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2" name="Badge 52"/>
          <p:cNvSpPr/>
          <p:nvPr/>
        </p:nvSpPr>
        <p:spPr>
          <a:xfrm>
            <a:off x="6336792" y="3749040"/>
            <a:ext cx="502920" cy="50292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95160" y="3566160"/>
            <a:ext cx="452628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0B1F44"/>
                </a:solidFill>
                <a:latin typeface="Calibri"/>
                <a:cs typeface="Calibri"/>
              </a:rPr>
              <a:t>Limitation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F2937"/>
                </a:solidFill>
                <a:latin typeface="Calibri"/>
                <a:cs typeface="Calibri"/>
              </a:rPr>
              <a:t>A simple table-based comparison does not give an easy way to visualize relationships.</a:t>
            </a:r>
          </a:p>
        </p:txBody>
      </p:sp>
      <p:sp>
        <p:nvSpPr>
          <p:cNvPr id="54" name="Banner 54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B1F44"/>
          </a:solidFill>
          <a:ln>
            <a:noFill/>
          </a:ln>
        </p:spPr>
        <p:txBody>
          <a:bodyPr wrap="square" lIns="274320" tIns="45720" rIns="27432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6EE7A0"/>
                </a:solidFill>
                <a:latin typeface="Calibri"/>
                <a:cs typeface="Calibri"/>
              </a:rPr>
              <a:t>The analyst needs to answer:  </a:t>
            </a:r>
            <a:r>
              <a:rPr lang="en-US" sz="1600" b="1" i="1" dirty="0">
                <a:solidFill>
                  <a:srgbClr val="FFFFFF"/>
                </a:solidFill>
                <a:latin typeface="Calibri"/>
                <a:cs typeface="Calibri"/>
              </a:rPr>
              <a:t>“Which players have similar attribute profiles, and what patterns exist among the players?”</a:t>
            </a:r>
          </a:p>
        </p:txBody>
      </p:sp>
    </p:spTree>
    <p:extLst>
      <p:ext uri="{BB962C8B-B14F-4D97-AF65-F5344CB8AC3E}">
        <p14:creationId xmlns:p14="http://schemas.microsoft.com/office/powerpoint/2010/main" val="105023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B12-B1C5-EAAF-3801-24EB3372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0" y="274320"/>
            <a:ext cx="9079992" cy="777240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0B1F44"/>
                </a:solidFill>
                <a:latin typeface="Calibri"/>
                <a:cs typeface="Calibri"/>
              </a:rPr>
              <a:t>3. Proposed Solution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A50F-24A9-8596-5039-AD9A6BA2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29-09-2026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01E2-1FF9-5D78-E2DE-74ABBEC8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0BFE-4CC6-6B70-BE50-158E40AE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E3A8A"/>
                </a:solidFill>
                <a:latin typeface="Calibri"/>
                <a:cs typeface="Calibri"/>
              </a:rPr>
              <a:t>“Player Statistics Visualization Using PCA and UMAP”</a:t>
            </a:r>
            <a:r>
              <a:rPr lang="en-US" sz="1500" b="0" i="0" dirty="0">
                <a:solidFill>
                  <a:srgbClr val="1F2937"/>
                </a:solidFill>
                <a:latin typeface="Calibri"/>
                <a:cs typeface="Calibri"/>
              </a:rPr>
              <a:t> applies Machine Learning-based dimensionality reduction to address this problem.</a:t>
            </a:r>
          </a:p>
        </p:txBody>
      </p:sp>
      <p:sp>
        <p:nvSpPr>
          <p:cNvPr id="22" name="Card 22"/>
          <p:cNvSpPr/>
          <p:nvPr/>
        </p:nvSpPr>
        <p:spPr>
          <a:xfrm>
            <a:off x="548640" y="1874520"/>
            <a:ext cx="199339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3" name="Badge 23"/>
          <p:cNvSpPr/>
          <p:nvPr/>
        </p:nvSpPr>
        <p:spPr>
          <a:xfrm>
            <a:off x="713232" y="2039112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3232" y="2651760"/>
            <a:ext cx="166420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B1F44"/>
                </a:solidFill>
                <a:latin typeface="Calibri"/>
                <a:cs typeface="Calibri"/>
              </a:rPr>
              <a:t>Data Preprocessing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3232" y="3246120"/>
            <a:ext cx="166420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937"/>
                </a:solidFill>
                <a:latin typeface="Calibri"/>
                <a:cs typeface="Calibri"/>
              </a:rPr>
              <a:t>Missing values in the selected features are handled appropriately.</a:t>
            </a:r>
          </a:p>
        </p:txBody>
      </p:sp>
      <p:sp>
        <p:nvSpPr>
          <p:cNvPr id="26" name="Arrow 26"/>
          <p:cNvSpPr/>
          <p:nvPr/>
        </p:nvSpPr>
        <p:spPr>
          <a:xfrm>
            <a:off x="2569464" y="3131820"/>
            <a:ext cx="219456" cy="274320"/>
          </a:xfrm>
          <a:prstGeom prst="rightArrow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7" name="Card 27"/>
          <p:cNvSpPr/>
          <p:nvPr/>
        </p:nvSpPr>
        <p:spPr>
          <a:xfrm>
            <a:off x="2816352" y="1874520"/>
            <a:ext cx="199339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8" name="Badge 28"/>
          <p:cNvSpPr/>
          <p:nvPr/>
        </p:nvSpPr>
        <p:spPr>
          <a:xfrm>
            <a:off x="2980944" y="2039112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80944" y="2651760"/>
            <a:ext cx="166420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B1F44"/>
                </a:solidFill>
                <a:latin typeface="Calibri"/>
                <a:cs typeface="Calibri"/>
              </a:rPr>
              <a:t>Feature Selection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80944" y="3246120"/>
            <a:ext cx="166420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937"/>
                </a:solidFill>
                <a:latin typeface="Calibri"/>
                <a:cs typeface="Calibri"/>
              </a:rPr>
              <a:t>Seven relevant numerical player attributes are selected.</a:t>
            </a:r>
          </a:p>
        </p:txBody>
      </p:sp>
      <p:sp>
        <p:nvSpPr>
          <p:cNvPr id="31" name="Arrow 31"/>
          <p:cNvSpPr/>
          <p:nvPr/>
        </p:nvSpPr>
        <p:spPr>
          <a:xfrm>
            <a:off x="4837176" y="3131820"/>
            <a:ext cx="219456" cy="274320"/>
          </a:xfrm>
          <a:prstGeom prst="rightArrow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2" name="Card 32"/>
          <p:cNvSpPr/>
          <p:nvPr/>
        </p:nvSpPr>
        <p:spPr>
          <a:xfrm>
            <a:off x="5084064" y="1874520"/>
            <a:ext cx="199339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3" name="Badge 33"/>
          <p:cNvSpPr/>
          <p:nvPr/>
        </p:nvSpPr>
        <p:spPr>
          <a:xfrm>
            <a:off x="5248656" y="2039112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48656" y="2651760"/>
            <a:ext cx="166420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B1F44"/>
                </a:solidFill>
                <a:latin typeface="Calibri"/>
                <a:cs typeface="Calibri"/>
              </a:rPr>
              <a:t>Standardization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48656" y="3246120"/>
            <a:ext cx="166420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937"/>
                </a:solidFill>
                <a:latin typeface="Calibri"/>
                <a:cs typeface="Calibri"/>
              </a:rPr>
              <a:t>Selected features are standardized using StandardScaler.</a:t>
            </a:r>
          </a:p>
        </p:txBody>
      </p:sp>
      <p:sp>
        <p:nvSpPr>
          <p:cNvPr id="36" name="Arrow 36"/>
          <p:cNvSpPr/>
          <p:nvPr/>
        </p:nvSpPr>
        <p:spPr>
          <a:xfrm>
            <a:off x="7104888" y="3131820"/>
            <a:ext cx="219456" cy="274320"/>
          </a:xfrm>
          <a:prstGeom prst="rightArrow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7" name="Card 37"/>
          <p:cNvSpPr/>
          <p:nvPr/>
        </p:nvSpPr>
        <p:spPr>
          <a:xfrm>
            <a:off x="7351776" y="1874520"/>
            <a:ext cx="199339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8" name="Badge 38"/>
          <p:cNvSpPr/>
          <p:nvPr/>
        </p:nvSpPr>
        <p:spPr>
          <a:xfrm>
            <a:off x="7516368" y="2039112"/>
            <a:ext cx="502920" cy="50292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16368" y="2651760"/>
            <a:ext cx="166420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B1F44"/>
                </a:solidFill>
                <a:latin typeface="Calibri"/>
                <a:cs typeface="Calibri"/>
              </a:rPr>
              <a:t>Dimensionality Reduction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16368" y="3246120"/>
            <a:ext cx="16642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937"/>
                </a:solidFill>
                <a:latin typeface="Calibri"/>
                <a:cs typeface="Calibri"/>
              </a:rPr>
              <a:t>Two techniques are applied:</a:t>
            </a:r>
          </a:p>
        </p:txBody>
      </p:sp>
      <p:sp>
        <p:nvSpPr>
          <p:cNvPr id="41" name="Tag 41"/>
          <p:cNvSpPr/>
          <p:nvPr/>
        </p:nvSpPr>
        <p:spPr>
          <a:xfrm>
            <a:off x="7516368" y="3749040"/>
            <a:ext cx="1664208" cy="384048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PCA  </a:t>
            </a:r>
            <a:r>
              <a:rPr lang="en-US" sz="1100" b="0" i="0" dirty="0">
                <a:solidFill>
                  <a:srgbClr val="FFFFFF"/>
                </a:solidFill>
                <a:latin typeface="Calibri"/>
                <a:cs typeface="Calibri"/>
              </a:rPr>
              <a:t>linear</a:t>
            </a:r>
          </a:p>
        </p:txBody>
      </p:sp>
      <p:sp>
        <p:nvSpPr>
          <p:cNvPr id="42" name="Tag 42"/>
          <p:cNvSpPr/>
          <p:nvPr/>
        </p:nvSpPr>
        <p:spPr>
          <a:xfrm>
            <a:off x="7516368" y="4206240"/>
            <a:ext cx="1664208" cy="384048"/>
          </a:xfrm>
          <a:prstGeom prst="roundRect">
            <a:avLst>
              <a:gd name="adj" fmla="val 25000"/>
            </a:avLst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UMAP  </a:t>
            </a:r>
            <a:r>
              <a:rPr lang="en-US" sz="1100" b="0" i="0" dirty="0">
                <a:solidFill>
                  <a:srgbClr val="FFFFFF"/>
                </a:solidFill>
                <a:latin typeface="Calibri"/>
                <a:cs typeface="Calibri"/>
              </a:rPr>
              <a:t>nonlinear</a:t>
            </a:r>
          </a:p>
        </p:txBody>
      </p:sp>
      <p:sp>
        <p:nvSpPr>
          <p:cNvPr id="43" name="Arrow 43"/>
          <p:cNvSpPr/>
          <p:nvPr/>
        </p:nvSpPr>
        <p:spPr>
          <a:xfrm>
            <a:off x="9372600" y="3131820"/>
            <a:ext cx="219456" cy="274320"/>
          </a:xfrm>
          <a:prstGeom prst="rightArrow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4" name="Card 44"/>
          <p:cNvSpPr/>
          <p:nvPr/>
        </p:nvSpPr>
        <p:spPr>
          <a:xfrm>
            <a:off x="9619488" y="1874520"/>
            <a:ext cx="1993392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5" name="Badge 45"/>
          <p:cNvSpPr/>
          <p:nvPr/>
        </p:nvSpPr>
        <p:spPr>
          <a:xfrm>
            <a:off x="9784080" y="2039112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784080" y="2651760"/>
            <a:ext cx="166420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B1F44"/>
                </a:solidFill>
                <a:latin typeface="Calibri"/>
                <a:cs typeface="Calibri"/>
              </a:rPr>
              <a:t>Visualization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84080" y="3246120"/>
            <a:ext cx="166420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1F2937"/>
                </a:solidFill>
                <a:latin typeface="Calibri"/>
                <a:cs typeface="Calibri"/>
              </a:rPr>
              <a:t>Reduced data is shown as 2D scatter plots to explore player similarities and patterns.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48640" y="4956048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6803F"/>
                </a:solidFill>
                <a:latin typeface="Calibri"/>
                <a:cs typeface="Calibri"/>
              </a:rPr>
              <a:t>Input features</a:t>
            </a:r>
          </a:p>
        </p:txBody>
      </p:sp>
      <p:sp>
        <p:nvSpPr>
          <p:cNvPr id="49" name="Chip 49"/>
          <p:cNvSpPr/>
          <p:nvPr/>
        </p:nvSpPr>
        <p:spPr>
          <a:xfrm>
            <a:off x="1828800" y="4937760"/>
            <a:ext cx="1243584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0B1F44"/>
                </a:solidFill>
                <a:latin typeface="Calibri"/>
                <a:cs typeface="Calibri"/>
              </a:rPr>
              <a:t>Age</a:t>
            </a:r>
          </a:p>
        </p:txBody>
      </p:sp>
      <p:sp>
        <p:nvSpPr>
          <p:cNvPr id="50" name="Chip 50"/>
          <p:cNvSpPr/>
          <p:nvPr/>
        </p:nvSpPr>
        <p:spPr>
          <a:xfrm>
            <a:off x="3163824" y="4937760"/>
            <a:ext cx="1243584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0B1F44"/>
                </a:solidFill>
                <a:latin typeface="Calibri"/>
                <a:cs typeface="Calibri"/>
              </a:rPr>
              <a:t>Overall</a:t>
            </a:r>
          </a:p>
        </p:txBody>
      </p:sp>
      <p:sp>
        <p:nvSpPr>
          <p:cNvPr id="51" name="Chip 51"/>
          <p:cNvSpPr/>
          <p:nvPr/>
        </p:nvSpPr>
        <p:spPr>
          <a:xfrm>
            <a:off x="4498848" y="4937760"/>
            <a:ext cx="1243584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0B1F44"/>
                </a:solidFill>
                <a:latin typeface="Calibri"/>
                <a:cs typeface="Calibri"/>
              </a:rPr>
              <a:t>Potential</a:t>
            </a:r>
          </a:p>
        </p:txBody>
      </p:sp>
      <p:sp>
        <p:nvSpPr>
          <p:cNvPr id="52" name="Chip 52"/>
          <p:cNvSpPr/>
          <p:nvPr/>
        </p:nvSpPr>
        <p:spPr>
          <a:xfrm>
            <a:off x="5833872" y="4937760"/>
            <a:ext cx="1243584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0B1F44"/>
                </a:solidFill>
                <a:latin typeface="Calibri"/>
                <a:cs typeface="Calibri"/>
              </a:rPr>
              <a:t>Special</a:t>
            </a:r>
          </a:p>
        </p:txBody>
      </p:sp>
      <p:sp>
        <p:nvSpPr>
          <p:cNvPr id="53" name="Chip 53"/>
          <p:cNvSpPr/>
          <p:nvPr/>
        </p:nvSpPr>
        <p:spPr>
          <a:xfrm>
            <a:off x="7168896" y="4937760"/>
            <a:ext cx="1243584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0B1F44"/>
                </a:solidFill>
                <a:latin typeface="Calibri"/>
                <a:cs typeface="Calibri"/>
              </a:rPr>
              <a:t>International Reputation</a:t>
            </a:r>
          </a:p>
        </p:txBody>
      </p:sp>
      <p:sp>
        <p:nvSpPr>
          <p:cNvPr id="54" name="Chip 54"/>
          <p:cNvSpPr/>
          <p:nvPr/>
        </p:nvSpPr>
        <p:spPr>
          <a:xfrm>
            <a:off x="8503920" y="4937760"/>
            <a:ext cx="1243584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0B1F44"/>
                </a:solidFill>
                <a:latin typeface="Calibri"/>
                <a:cs typeface="Calibri"/>
              </a:rPr>
              <a:t>Weak Foot</a:t>
            </a:r>
          </a:p>
        </p:txBody>
      </p:sp>
      <p:sp>
        <p:nvSpPr>
          <p:cNvPr id="55" name="Chip 55"/>
          <p:cNvSpPr/>
          <p:nvPr/>
        </p:nvSpPr>
        <p:spPr>
          <a:xfrm>
            <a:off x="9838944" y="4937760"/>
            <a:ext cx="1243584" cy="566928"/>
          </a:xfrm>
          <a:prstGeom prst="roundRect">
            <a:avLst>
              <a:gd name="adj" fmla="val 20000"/>
            </a:avLst>
          </a:prstGeom>
          <a:solidFill>
            <a:srgbClr val="EEF3FA"/>
          </a:solidFill>
          <a:ln w="12700">
            <a:solidFill>
              <a:srgbClr val="CBD5E5"/>
            </a:solidFill>
          </a:ln>
        </p:spPr>
        <p:txBody>
          <a:bodyPr wrap="square" lIns="36576" tIns="18288" rIns="36576" bIns="18288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dirty="0">
                <a:solidFill>
                  <a:srgbClr val="0B1F44"/>
                </a:solidFill>
                <a:latin typeface="Calibri"/>
                <a:cs typeface="Calibri"/>
              </a:rPr>
              <a:t>Skill Moves</a:t>
            </a:r>
          </a:p>
        </p:txBody>
      </p:sp>
    </p:spTree>
    <p:extLst>
      <p:ext uri="{BB962C8B-B14F-4D97-AF65-F5344CB8AC3E}">
        <p14:creationId xmlns:p14="http://schemas.microsoft.com/office/powerpoint/2010/main" val="105023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B12-B1C5-EAAF-3801-24EB3372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0" y="274320"/>
            <a:ext cx="9079992" cy="777240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0B1F44"/>
                </a:solidFill>
                <a:latin typeface="Calibri"/>
                <a:cs typeface="Calibri"/>
              </a:rPr>
              <a:t>4. Case Outcome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A50F-24A9-8596-5039-AD9A6BA2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29-09-2026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01E2-1FF9-5D78-E2DE-74ABBEC8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0BFE-4CC6-6B70-BE50-158E40AE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1" name="Card 21"/>
          <p:cNvSpPr/>
          <p:nvPr/>
        </p:nvSpPr>
        <p:spPr>
          <a:xfrm>
            <a:off x="548640" y="1280160"/>
            <a:ext cx="30632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685800" y="135331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B1F44"/>
                </a:solidFill>
                <a:latin typeface="Calibri"/>
                <a:cs typeface="Calibri"/>
              </a:rPr>
              <a:t>PCA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6B85"/>
                </a:solidFill>
                <a:latin typeface="Calibri"/>
                <a:cs typeface="Calibri"/>
              </a:rPr>
              <a:t>Linear · 2D</a:t>
            </a:r>
          </a:p>
        </p:txBody>
      </p:sp>
      <p:sp>
        <p:nvSpPr>
          <p:cNvPr id="23" name="Plot 23"/>
          <p:cNvSpPr/>
          <p:nvPr/>
        </p:nvSpPr>
        <p:spPr>
          <a:xfrm>
            <a:off x="685800" y="1920240"/>
            <a:ext cx="2788920" cy="210312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4" name="Dot 24"/>
          <p:cNvSpPr/>
          <p:nvPr/>
        </p:nvSpPr>
        <p:spPr>
          <a:xfrm>
            <a:off x="1697246" y="3098176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5" name="Dot 25"/>
          <p:cNvSpPr/>
          <p:nvPr/>
        </p:nvSpPr>
        <p:spPr>
          <a:xfrm>
            <a:off x="1710536" y="282006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6" name="Dot 26"/>
          <p:cNvSpPr/>
          <p:nvPr/>
        </p:nvSpPr>
        <p:spPr>
          <a:xfrm>
            <a:off x="1396427" y="2854304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7" name="Dot 27"/>
          <p:cNvSpPr/>
          <p:nvPr/>
        </p:nvSpPr>
        <p:spPr>
          <a:xfrm>
            <a:off x="2307594" y="3068805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8" name="Dot 28"/>
          <p:cNvSpPr/>
          <p:nvPr/>
        </p:nvSpPr>
        <p:spPr>
          <a:xfrm>
            <a:off x="2274110" y="3009836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9" name="Dot 29"/>
          <p:cNvSpPr/>
          <p:nvPr/>
        </p:nvSpPr>
        <p:spPr>
          <a:xfrm>
            <a:off x="1987583" y="298844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0" name="Dot 30"/>
          <p:cNvSpPr/>
          <p:nvPr/>
        </p:nvSpPr>
        <p:spPr>
          <a:xfrm>
            <a:off x="1067984" y="321387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1" name="Dot 31"/>
          <p:cNvSpPr/>
          <p:nvPr/>
        </p:nvSpPr>
        <p:spPr>
          <a:xfrm>
            <a:off x="2037389" y="309393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2" name="Dot 32"/>
          <p:cNvSpPr/>
          <p:nvPr/>
        </p:nvSpPr>
        <p:spPr>
          <a:xfrm>
            <a:off x="1056694" y="2339263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3" name="Dot 33"/>
          <p:cNvSpPr/>
          <p:nvPr/>
        </p:nvSpPr>
        <p:spPr>
          <a:xfrm>
            <a:off x="1414456" y="2768535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4" name="Dot 34"/>
          <p:cNvSpPr/>
          <p:nvPr/>
        </p:nvSpPr>
        <p:spPr>
          <a:xfrm>
            <a:off x="1947725" y="291063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5" name="Dot 35"/>
          <p:cNvSpPr/>
          <p:nvPr/>
        </p:nvSpPr>
        <p:spPr>
          <a:xfrm>
            <a:off x="2043900" y="2709969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6" name="Dot 36"/>
          <p:cNvSpPr/>
          <p:nvPr/>
        </p:nvSpPr>
        <p:spPr>
          <a:xfrm>
            <a:off x="1949178" y="3058713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7" name="Dot 37"/>
          <p:cNvSpPr/>
          <p:nvPr/>
        </p:nvSpPr>
        <p:spPr>
          <a:xfrm>
            <a:off x="1516409" y="3504028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8" name="Dot 38"/>
          <p:cNvSpPr/>
          <p:nvPr/>
        </p:nvSpPr>
        <p:spPr>
          <a:xfrm>
            <a:off x="2059801" y="332887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9" name="Dot 39"/>
          <p:cNvSpPr/>
          <p:nvPr/>
        </p:nvSpPr>
        <p:spPr>
          <a:xfrm>
            <a:off x="1534617" y="2677233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0" name="Dot 40"/>
          <p:cNvSpPr/>
          <p:nvPr/>
        </p:nvSpPr>
        <p:spPr>
          <a:xfrm>
            <a:off x="1657903" y="2890269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1" name="Dot 41"/>
          <p:cNvSpPr/>
          <p:nvPr/>
        </p:nvSpPr>
        <p:spPr>
          <a:xfrm>
            <a:off x="2093477" y="3009676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2" name="Dot 42"/>
          <p:cNvSpPr/>
          <p:nvPr/>
        </p:nvSpPr>
        <p:spPr>
          <a:xfrm>
            <a:off x="1611804" y="260408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3" name="Dot 43"/>
          <p:cNvSpPr/>
          <p:nvPr/>
        </p:nvSpPr>
        <p:spPr>
          <a:xfrm>
            <a:off x="1579125" y="3336919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4" name="Dot 44"/>
          <p:cNvSpPr/>
          <p:nvPr/>
        </p:nvSpPr>
        <p:spPr>
          <a:xfrm>
            <a:off x="1450899" y="300844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5" name="Dot 45"/>
          <p:cNvSpPr/>
          <p:nvPr/>
        </p:nvSpPr>
        <p:spPr>
          <a:xfrm>
            <a:off x="2001751" y="2424783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6" name="Dot 46"/>
          <p:cNvSpPr/>
          <p:nvPr/>
        </p:nvSpPr>
        <p:spPr>
          <a:xfrm>
            <a:off x="1833057" y="336563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7" name="Dot 47"/>
          <p:cNvSpPr/>
          <p:nvPr/>
        </p:nvSpPr>
        <p:spPr>
          <a:xfrm>
            <a:off x="912562" y="2817864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8" name="Dot 48"/>
          <p:cNvSpPr/>
          <p:nvPr/>
        </p:nvSpPr>
        <p:spPr>
          <a:xfrm>
            <a:off x="1764064" y="2651073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9" name="Dot 49"/>
          <p:cNvSpPr/>
          <p:nvPr/>
        </p:nvSpPr>
        <p:spPr>
          <a:xfrm>
            <a:off x="2033375" y="2905123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0" name="Dot 50"/>
          <p:cNvSpPr/>
          <p:nvPr/>
        </p:nvSpPr>
        <p:spPr>
          <a:xfrm>
            <a:off x="1741559" y="3001579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1" name="Dot 51"/>
          <p:cNvSpPr/>
          <p:nvPr/>
        </p:nvSpPr>
        <p:spPr>
          <a:xfrm>
            <a:off x="2574773" y="3036321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2" name="Dot 52"/>
          <p:cNvSpPr/>
          <p:nvPr/>
        </p:nvSpPr>
        <p:spPr>
          <a:xfrm>
            <a:off x="2875912" y="2864488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3" name="Dot 53"/>
          <p:cNvSpPr/>
          <p:nvPr/>
        </p:nvSpPr>
        <p:spPr>
          <a:xfrm>
            <a:off x="2360002" y="2375308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4" name="Dot 54"/>
          <p:cNvSpPr/>
          <p:nvPr/>
        </p:nvSpPr>
        <p:spPr>
          <a:xfrm>
            <a:off x="2553731" y="2577706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5" name="Dot 55"/>
          <p:cNvSpPr/>
          <p:nvPr/>
        </p:nvSpPr>
        <p:spPr>
          <a:xfrm>
            <a:off x="2136675" y="2385430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6" name="Dot 56"/>
          <p:cNvSpPr/>
          <p:nvPr/>
        </p:nvSpPr>
        <p:spPr>
          <a:xfrm>
            <a:off x="1935628" y="2601449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7" name="Dot 57"/>
          <p:cNvSpPr/>
          <p:nvPr/>
        </p:nvSpPr>
        <p:spPr>
          <a:xfrm>
            <a:off x="2816657" y="2159596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8" name="Dot 58"/>
          <p:cNvSpPr/>
          <p:nvPr/>
        </p:nvSpPr>
        <p:spPr>
          <a:xfrm>
            <a:off x="1744273" y="2828304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59" name="Dot 59"/>
          <p:cNvSpPr/>
          <p:nvPr/>
        </p:nvSpPr>
        <p:spPr>
          <a:xfrm>
            <a:off x="2876986" y="2928161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0" name="Dot 60"/>
          <p:cNvSpPr/>
          <p:nvPr/>
        </p:nvSpPr>
        <p:spPr>
          <a:xfrm>
            <a:off x="1571601" y="2016369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1" name="Dot 61"/>
          <p:cNvSpPr/>
          <p:nvPr/>
        </p:nvSpPr>
        <p:spPr>
          <a:xfrm>
            <a:off x="2452977" y="2541048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2" name="Dot 62"/>
          <p:cNvSpPr/>
          <p:nvPr/>
        </p:nvSpPr>
        <p:spPr>
          <a:xfrm>
            <a:off x="1876213" y="3045604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3" name="Dot 63"/>
          <p:cNvSpPr/>
          <p:nvPr/>
        </p:nvSpPr>
        <p:spPr>
          <a:xfrm>
            <a:off x="2743623" y="2804131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4" name="Dot 64"/>
          <p:cNvSpPr/>
          <p:nvPr/>
        </p:nvSpPr>
        <p:spPr>
          <a:xfrm>
            <a:off x="2409395" y="2885723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5" name="Dot 65"/>
          <p:cNvSpPr/>
          <p:nvPr/>
        </p:nvSpPr>
        <p:spPr>
          <a:xfrm>
            <a:off x="2935809" y="2940095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6" name="Dot 66"/>
          <p:cNvSpPr/>
          <p:nvPr/>
        </p:nvSpPr>
        <p:spPr>
          <a:xfrm>
            <a:off x="2515938" y="2919104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7" name="Dot 67"/>
          <p:cNvSpPr/>
          <p:nvPr/>
        </p:nvSpPr>
        <p:spPr>
          <a:xfrm>
            <a:off x="1701087" y="3135220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8" name="Dot 68"/>
          <p:cNvSpPr/>
          <p:nvPr/>
        </p:nvSpPr>
        <p:spPr>
          <a:xfrm>
            <a:off x="1935846" y="3373965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69" name="Dot 69"/>
          <p:cNvSpPr/>
          <p:nvPr/>
        </p:nvSpPr>
        <p:spPr>
          <a:xfrm>
            <a:off x="955604" y="3129309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0" name="Dot 70"/>
          <p:cNvSpPr/>
          <p:nvPr/>
        </p:nvSpPr>
        <p:spPr>
          <a:xfrm>
            <a:off x="1898096" y="2881659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1" name="Dot 71"/>
          <p:cNvSpPr/>
          <p:nvPr/>
        </p:nvSpPr>
        <p:spPr>
          <a:xfrm>
            <a:off x="1554615" y="3476998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2" name="Dot 72"/>
          <p:cNvSpPr/>
          <p:nvPr/>
        </p:nvSpPr>
        <p:spPr>
          <a:xfrm>
            <a:off x="1177386" y="3601204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3" name="Dot 73"/>
          <p:cNvSpPr/>
          <p:nvPr/>
        </p:nvSpPr>
        <p:spPr>
          <a:xfrm>
            <a:off x="1800928" y="3231003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4" name="Dot 74"/>
          <p:cNvSpPr/>
          <p:nvPr/>
        </p:nvSpPr>
        <p:spPr>
          <a:xfrm>
            <a:off x="1724925" y="3399246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5" name="Dot 75"/>
          <p:cNvSpPr/>
          <p:nvPr/>
        </p:nvSpPr>
        <p:spPr>
          <a:xfrm>
            <a:off x="1656494" y="3503525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6" name="Dot 76"/>
          <p:cNvSpPr/>
          <p:nvPr/>
        </p:nvSpPr>
        <p:spPr>
          <a:xfrm>
            <a:off x="1394803" y="3175355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7" name="Dot 77"/>
          <p:cNvSpPr/>
          <p:nvPr/>
        </p:nvSpPr>
        <p:spPr>
          <a:xfrm>
            <a:off x="1964823" y="3268215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8" name="Card 78"/>
          <p:cNvSpPr/>
          <p:nvPr/>
        </p:nvSpPr>
        <p:spPr>
          <a:xfrm>
            <a:off x="3794760" y="1280160"/>
            <a:ext cx="30632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79" name="TextBox 79"/>
          <p:cNvSpPr txBox="1"/>
          <p:nvPr/>
        </p:nvSpPr>
        <p:spPr>
          <a:xfrm>
            <a:off x="3931920" y="135331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0B1F44"/>
                </a:solidFill>
                <a:latin typeface="Calibri"/>
                <a:cs typeface="Calibri"/>
              </a:rPr>
              <a:t>UMAP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5B6B85"/>
                </a:solidFill>
                <a:latin typeface="Calibri"/>
                <a:cs typeface="Calibri"/>
              </a:rPr>
              <a:t>Nonlinear · 2D</a:t>
            </a:r>
          </a:p>
        </p:txBody>
      </p:sp>
      <p:sp>
        <p:nvSpPr>
          <p:cNvPr id="80" name="Plot 80"/>
          <p:cNvSpPr/>
          <p:nvPr/>
        </p:nvSpPr>
        <p:spPr>
          <a:xfrm>
            <a:off x="3931920" y="1920240"/>
            <a:ext cx="2788920" cy="210312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1" name="Dot 81"/>
          <p:cNvSpPr/>
          <p:nvPr/>
        </p:nvSpPr>
        <p:spPr>
          <a:xfrm>
            <a:off x="4296651" y="2684602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2" name="Dot 82"/>
          <p:cNvSpPr/>
          <p:nvPr/>
        </p:nvSpPr>
        <p:spPr>
          <a:xfrm>
            <a:off x="4689213" y="2421259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3" name="Dot 83"/>
          <p:cNvSpPr/>
          <p:nvPr/>
        </p:nvSpPr>
        <p:spPr>
          <a:xfrm>
            <a:off x="4213063" y="247995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4" name="Dot 84"/>
          <p:cNvSpPr/>
          <p:nvPr/>
        </p:nvSpPr>
        <p:spPr>
          <a:xfrm>
            <a:off x="4419048" y="2449050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5" name="Dot 85"/>
          <p:cNvSpPr/>
          <p:nvPr/>
        </p:nvSpPr>
        <p:spPr>
          <a:xfrm>
            <a:off x="4679052" y="2311077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6" name="Dot 86"/>
          <p:cNvSpPr/>
          <p:nvPr/>
        </p:nvSpPr>
        <p:spPr>
          <a:xfrm>
            <a:off x="4654925" y="2265387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7" name="Dot 87"/>
          <p:cNvSpPr/>
          <p:nvPr/>
        </p:nvSpPr>
        <p:spPr>
          <a:xfrm>
            <a:off x="4312285" y="262499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8" name="Dot 88"/>
          <p:cNvSpPr/>
          <p:nvPr/>
        </p:nvSpPr>
        <p:spPr>
          <a:xfrm>
            <a:off x="4632854" y="2668049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89" name="Dot 89"/>
          <p:cNvSpPr/>
          <p:nvPr/>
        </p:nvSpPr>
        <p:spPr>
          <a:xfrm>
            <a:off x="4501752" y="253240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0" name="Dot 90"/>
          <p:cNvSpPr/>
          <p:nvPr/>
        </p:nvSpPr>
        <p:spPr>
          <a:xfrm>
            <a:off x="4469500" y="2614346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1" name="Dot 91"/>
          <p:cNvSpPr/>
          <p:nvPr/>
        </p:nvSpPr>
        <p:spPr>
          <a:xfrm>
            <a:off x="4414500" y="2557969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2" name="Dot 92"/>
          <p:cNvSpPr/>
          <p:nvPr/>
        </p:nvSpPr>
        <p:spPr>
          <a:xfrm>
            <a:off x="4539821" y="2505615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3" name="Dot 93"/>
          <p:cNvSpPr/>
          <p:nvPr/>
        </p:nvSpPr>
        <p:spPr>
          <a:xfrm>
            <a:off x="4571825" y="2612566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4" name="Dot 94"/>
          <p:cNvSpPr/>
          <p:nvPr/>
        </p:nvSpPr>
        <p:spPr>
          <a:xfrm>
            <a:off x="4780434" y="256696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5" name="Dot 95"/>
          <p:cNvSpPr/>
          <p:nvPr/>
        </p:nvSpPr>
        <p:spPr>
          <a:xfrm>
            <a:off x="4372433" y="2434939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6" name="Dot 96"/>
          <p:cNvSpPr/>
          <p:nvPr/>
        </p:nvSpPr>
        <p:spPr>
          <a:xfrm>
            <a:off x="4441791" y="268031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7" name="Dot 97"/>
          <p:cNvSpPr/>
          <p:nvPr/>
        </p:nvSpPr>
        <p:spPr>
          <a:xfrm>
            <a:off x="4387665" y="2578485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8" name="Dot 98"/>
          <p:cNvSpPr/>
          <p:nvPr/>
        </p:nvSpPr>
        <p:spPr>
          <a:xfrm>
            <a:off x="4751429" y="2020011"/>
            <a:ext cx="91440" cy="914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99" name="Dot 99"/>
          <p:cNvSpPr/>
          <p:nvPr/>
        </p:nvSpPr>
        <p:spPr>
          <a:xfrm>
            <a:off x="5674808" y="2509559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0" name="Dot 100"/>
          <p:cNvSpPr/>
          <p:nvPr/>
        </p:nvSpPr>
        <p:spPr>
          <a:xfrm>
            <a:off x="5971987" y="2508551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1" name="Dot 101"/>
          <p:cNvSpPr/>
          <p:nvPr/>
        </p:nvSpPr>
        <p:spPr>
          <a:xfrm>
            <a:off x="5810051" y="2587400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2" name="Dot 102"/>
          <p:cNvSpPr/>
          <p:nvPr/>
        </p:nvSpPr>
        <p:spPr>
          <a:xfrm>
            <a:off x="5949301" y="2364579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3" name="Dot 103"/>
          <p:cNvSpPr/>
          <p:nvPr/>
        </p:nvSpPr>
        <p:spPr>
          <a:xfrm>
            <a:off x="6368628" y="2530613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4" name="Dot 104"/>
          <p:cNvSpPr/>
          <p:nvPr/>
        </p:nvSpPr>
        <p:spPr>
          <a:xfrm>
            <a:off x="5786023" y="2444570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5" name="Dot 105"/>
          <p:cNvSpPr/>
          <p:nvPr/>
        </p:nvSpPr>
        <p:spPr>
          <a:xfrm>
            <a:off x="5850181" y="2451518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6" name="Dot 106"/>
          <p:cNvSpPr/>
          <p:nvPr/>
        </p:nvSpPr>
        <p:spPr>
          <a:xfrm>
            <a:off x="5361634" y="2371233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7" name="Dot 107"/>
          <p:cNvSpPr/>
          <p:nvPr/>
        </p:nvSpPr>
        <p:spPr>
          <a:xfrm>
            <a:off x="6091120" y="2242207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8" name="Dot 108"/>
          <p:cNvSpPr/>
          <p:nvPr/>
        </p:nvSpPr>
        <p:spPr>
          <a:xfrm>
            <a:off x="5881201" y="2643874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09" name="Dot 109"/>
          <p:cNvSpPr/>
          <p:nvPr/>
        </p:nvSpPr>
        <p:spPr>
          <a:xfrm>
            <a:off x="6061369" y="2745621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0" name="Dot 110"/>
          <p:cNvSpPr/>
          <p:nvPr/>
        </p:nvSpPr>
        <p:spPr>
          <a:xfrm>
            <a:off x="5562065" y="2396506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1" name="Dot 111"/>
          <p:cNvSpPr/>
          <p:nvPr/>
        </p:nvSpPr>
        <p:spPr>
          <a:xfrm>
            <a:off x="5827661" y="2581370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2" name="Dot 112"/>
          <p:cNvSpPr/>
          <p:nvPr/>
        </p:nvSpPr>
        <p:spPr>
          <a:xfrm>
            <a:off x="6107366" y="1979676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3" name="Dot 113"/>
          <p:cNvSpPr/>
          <p:nvPr/>
        </p:nvSpPr>
        <p:spPr>
          <a:xfrm>
            <a:off x="6106759" y="2189401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4" name="Dot 114"/>
          <p:cNvSpPr/>
          <p:nvPr/>
        </p:nvSpPr>
        <p:spPr>
          <a:xfrm>
            <a:off x="6027590" y="2180960"/>
            <a:ext cx="91440" cy="9144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5" name="Dot 115"/>
          <p:cNvSpPr/>
          <p:nvPr/>
        </p:nvSpPr>
        <p:spPr>
          <a:xfrm>
            <a:off x="4757207" y="3652860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6" name="Dot 116"/>
          <p:cNvSpPr/>
          <p:nvPr/>
        </p:nvSpPr>
        <p:spPr>
          <a:xfrm>
            <a:off x="4693725" y="3484013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7" name="Dot 117"/>
          <p:cNvSpPr/>
          <p:nvPr/>
        </p:nvSpPr>
        <p:spPr>
          <a:xfrm>
            <a:off x="4878494" y="3475647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8" name="Dot 118"/>
          <p:cNvSpPr/>
          <p:nvPr/>
        </p:nvSpPr>
        <p:spPr>
          <a:xfrm>
            <a:off x="4705602" y="3709830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19" name="Dot 119"/>
          <p:cNvSpPr/>
          <p:nvPr/>
        </p:nvSpPr>
        <p:spPr>
          <a:xfrm>
            <a:off x="4927563" y="3402426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0" name="Dot 120"/>
          <p:cNvSpPr/>
          <p:nvPr/>
        </p:nvSpPr>
        <p:spPr>
          <a:xfrm>
            <a:off x="5258830" y="3258905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1" name="Dot 121"/>
          <p:cNvSpPr/>
          <p:nvPr/>
        </p:nvSpPr>
        <p:spPr>
          <a:xfrm>
            <a:off x="4901430" y="3407154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2" name="Dot 122"/>
          <p:cNvSpPr/>
          <p:nvPr/>
        </p:nvSpPr>
        <p:spPr>
          <a:xfrm>
            <a:off x="4748717" y="3570477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3" name="Dot 123"/>
          <p:cNvSpPr/>
          <p:nvPr/>
        </p:nvSpPr>
        <p:spPr>
          <a:xfrm>
            <a:off x="4766259" y="3559312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4" name="Dot 124"/>
          <p:cNvSpPr/>
          <p:nvPr/>
        </p:nvSpPr>
        <p:spPr>
          <a:xfrm>
            <a:off x="4424705" y="3197885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5" name="Dot 125"/>
          <p:cNvSpPr/>
          <p:nvPr/>
        </p:nvSpPr>
        <p:spPr>
          <a:xfrm>
            <a:off x="4842928" y="3289809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6" name="Dot 126"/>
          <p:cNvSpPr/>
          <p:nvPr/>
        </p:nvSpPr>
        <p:spPr>
          <a:xfrm>
            <a:off x="4522449" y="3204510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7" name="Dot 127"/>
          <p:cNvSpPr/>
          <p:nvPr/>
        </p:nvSpPr>
        <p:spPr>
          <a:xfrm>
            <a:off x="4970104" y="3577468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8" name="Dot 128"/>
          <p:cNvSpPr/>
          <p:nvPr/>
        </p:nvSpPr>
        <p:spPr>
          <a:xfrm>
            <a:off x="5010456" y="3294086"/>
            <a:ext cx="91440" cy="91440"/>
          </a:xfrm>
          <a:prstGeom prst="ellipse">
            <a:avLst/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29" name="Dot 129"/>
          <p:cNvSpPr/>
          <p:nvPr/>
        </p:nvSpPr>
        <p:spPr>
          <a:xfrm>
            <a:off x="6061698" y="3172928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0" name="Dot 130"/>
          <p:cNvSpPr/>
          <p:nvPr/>
        </p:nvSpPr>
        <p:spPr>
          <a:xfrm>
            <a:off x="6168378" y="3689614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1" name="Dot 131"/>
          <p:cNvSpPr/>
          <p:nvPr/>
        </p:nvSpPr>
        <p:spPr>
          <a:xfrm>
            <a:off x="5937420" y="3684107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2" name="Dot 132"/>
          <p:cNvSpPr/>
          <p:nvPr/>
        </p:nvSpPr>
        <p:spPr>
          <a:xfrm>
            <a:off x="6199334" y="3355106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3" name="Dot 133"/>
          <p:cNvSpPr/>
          <p:nvPr/>
        </p:nvSpPr>
        <p:spPr>
          <a:xfrm>
            <a:off x="5786574" y="3655015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4" name="Dot 134"/>
          <p:cNvSpPr/>
          <p:nvPr/>
        </p:nvSpPr>
        <p:spPr>
          <a:xfrm>
            <a:off x="6048134" y="3274663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5" name="Dot 135"/>
          <p:cNvSpPr/>
          <p:nvPr/>
        </p:nvSpPr>
        <p:spPr>
          <a:xfrm>
            <a:off x="6117280" y="3466365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6" name="Dot 136"/>
          <p:cNvSpPr/>
          <p:nvPr/>
        </p:nvSpPr>
        <p:spPr>
          <a:xfrm>
            <a:off x="6270461" y="3195673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7" name="Dot 137"/>
          <p:cNvSpPr/>
          <p:nvPr/>
        </p:nvSpPr>
        <p:spPr>
          <a:xfrm>
            <a:off x="6220001" y="3670295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8" name="Dot 138"/>
          <p:cNvSpPr/>
          <p:nvPr/>
        </p:nvSpPr>
        <p:spPr>
          <a:xfrm>
            <a:off x="6264066" y="3354578"/>
            <a:ext cx="91440" cy="91440"/>
          </a:xfrm>
          <a:prstGeom prst="ellipse">
            <a:avLst/>
          </a:prstGeom>
          <a:solidFill>
            <a:srgbClr val="7C8DB0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39" name="TextBox 139"/>
          <p:cNvSpPr txBox="1"/>
          <p:nvPr/>
        </p:nvSpPr>
        <p:spPr>
          <a:xfrm>
            <a:off x="548640" y="4206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B6B85"/>
                </a:solidFill>
                <a:latin typeface="Calibri"/>
                <a:cs typeface="Calibri"/>
              </a:rPr>
              <a:t>Illustrative sketch: players with similar attribute patterns may appear closer together.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7269480" y="128016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B1F44"/>
                </a:solidFill>
                <a:latin typeface="Calibri"/>
                <a:cs typeface="Calibri"/>
              </a:rPr>
              <a:t>The analyst can visually explore:</a:t>
            </a:r>
          </a:p>
        </p:txBody>
      </p:sp>
      <p:sp>
        <p:nvSpPr>
          <p:cNvPr id="141" name="Card 141"/>
          <p:cNvSpPr/>
          <p:nvPr/>
        </p:nvSpPr>
        <p:spPr>
          <a:xfrm>
            <a:off x="7269480" y="173736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42" name="Badge 142"/>
          <p:cNvSpPr/>
          <p:nvPr/>
        </p:nvSpPr>
        <p:spPr>
          <a:xfrm>
            <a:off x="7379208" y="1810512"/>
            <a:ext cx="402336" cy="402336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7909560" y="173736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2937"/>
                </a:solidFill>
                <a:latin typeface="Calibri"/>
                <a:cs typeface="Calibri"/>
              </a:rPr>
              <a:t>Similar player profiles</a:t>
            </a:r>
          </a:p>
        </p:txBody>
      </p:sp>
      <p:sp>
        <p:nvSpPr>
          <p:cNvPr id="144" name="Card 144"/>
          <p:cNvSpPr/>
          <p:nvPr/>
        </p:nvSpPr>
        <p:spPr>
          <a:xfrm>
            <a:off x="7269480" y="237744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45" name="Badge 145"/>
          <p:cNvSpPr/>
          <p:nvPr/>
        </p:nvSpPr>
        <p:spPr>
          <a:xfrm>
            <a:off x="7379208" y="2450592"/>
            <a:ext cx="402336" cy="402336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7909560" y="237744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2937"/>
                </a:solidFill>
                <a:latin typeface="Calibri"/>
                <a:cs typeface="Calibri"/>
              </a:rPr>
              <a:t>Groups of players</a:t>
            </a:r>
          </a:p>
        </p:txBody>
      </p:sp>
      <p:sp>
        <p:nvSpPr>
          <p:cNvPr id="147" name="Card 147"/>
          <p:cNvSpPr/>
          <p:nvPr/>
        </p:nvSpPr>
        <p:spPr>
          <a:xfrm>
            <a:off x="7269480" y="301752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48" name="Badge 148"/>
          <p:cNvSpPr/>
          <p:nvPr/>
        </p:nvSpPr>
        <p:spPr>
          <a:xfrm>
            <a:off x="7379208" y="3090672"/>
            <a:ext cx="402336" cy="402336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7909560" y="301752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2937"/>
                </a:solidFill>
                <a:latin typeface="Calibri"/>
                <a:cs typeface="Calibri"/>
              </a:rPr>
              <a:t>Patterns in player attributes</a:t>
            </a:r>
          </a:p>
        </p:txBody>
      </p:sp>
      <p:sp>
        <p:nvSpPr>
          <p:cNvPr id="150" name="Card 150"/>
          <p:cNvSpPr/>
          <p:nvPr/>
        </p:nvSpPr>
        <p:spPr>
          <a:xfrm>
            <a:off x="7269480" y="3657600"/>
            <a:ext cx="43434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51" name="Badge 151"/>
          <p:cNvSpPr/>
          <p:nvPr/>
        </p:nvSpPr>
        <p:spPr>
          <a:xfrm>
            <a:off x="7379208" y="3730752"/>
            <a:ext cx="402336" cy="402336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7909560" y="365760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F2937"/>
                </a:solidFill>
                <a:latin typeface="Calibri"/>
                <a:cs typeface="Calibri"/>
              </a:rPr>
              <a:t>Relationships between players</a:t>
            </a:r>
          </a:p>
        </p:txBody>
      </p:sp>
      <p:sp>
        <p:nvSpPr>
          <p:cNvPr id="153" name="Card 153"/>
          <p:cNvSpPr/>
          <p:nvPr/>
        </p:nvSpPr>
        <p:spPr>
          <a:xfrm>
            <a:off x="548640" y="466344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54" name="TextBox 154"/>
          <p:cNvSpPr txBox="1"/>
          <p:nvPr/>
        </p:nvSpPr>
        <p:spPr>
          <a:xfrm>
            <a:off x="731520" y="470916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0B1F44"/>
                </a:solidFill>
                <a:latin typeface="Calibri"/>
                <a:cs typeface="Calibri"/>
              </a:rPr>
              <a:t>Compare PCA and UMAP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F2937"/>
                </a:solidFill>
                <a:latin typeface="Calibri"/>
                <a:cs typeface="Calibri"/>
              </a:rPr>
              <a:t>Understand how the two techniques represent the same player dataset.</a:t>
            </a:r>
          </a:p>
        </p:txBody>
      </p:sp>
      <p:sp>
        <p:nvSpPr>
          <p:cNvPr id="155" name="Card 155"/>
          <p:cNvSpPr/>
          <p:nvPr/>
        </p:nvSpPr>
        <p:spPr>
          <a:xfrm>
            <a:off x="6172200" y="4663440"/>
            <a:ext cx="544068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156" name="TextBox 156"/>
          <p:cNvSpPr txBox="1"/>
          <p:nvPr/>
        </p:nvSpPr>
        <p:spPr>
          <a:xfrm>
            <a:off x="6355080" y="4709160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0B1F44"/>
                </a:solidFill>
                <a:latin typeface="Calibri"/>
                <a:cs typeface="Calibri"/>
              </a:rPr>
              <a:t>More efficient exploration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1F2937"/>
                </a:solidFill>
                <a:latin typeface="Calibri"/>
                <a:cs typeface="Calibri"/>
              </a:rPr>
              <a:t>Use visual representations instead of manually comparing thousands of player records.</a:t>
            </a:r>
          </a:p>
        </p:txBody>
      </p:sp>
    </p:spTree>
    <p:extLst>
      <p:ext uri="{BB962C8B-B14F-4D97-AF65-F5344CB8AC3E}">
        <p14:creationId xmlns:p14="http://schemas.microsoft.com/office/powerpoint/2010/main" val="1050238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B12-B1C5-EAAF-3801-24EB3372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0" y="274320"/>
            <a:ext cx="9079992" cy="777240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0B1F44"/>
                </a:solidFill>
                <a:latin typeface="Calibri"/>
                <a:cs typeface="Calibri"/>
              </a:rPr>
              <a:t>5. Final Solution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A50F-24A9-8596-5039-AD9A6BA2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29-09-2026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01E2-1FF9-5D78-E2DE-74ABBEC8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0BFE-4CC6-6B70-BE50-158E40AE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21" name="Flow 21"/>
          <p:cNvSpPr/>
          <p:nvPr/>
        </p:nvSpPr>
        <p:spPr>
          <a:xfrm>
            <a:off x="2377440" y="1280160"/>
            <a:ext cx="3108960" cy="384048"/>
          </a:xfrm>
          <a:prstGeom prst="roundRect">
            <a:avLst>
              <a:gd name="adj" fmla="val 30000"/>
            </a:avLst>
          </a:prstGeom>
          <a:solidFill>
            <a:srgbClr val="0B1F44"/>
          </a:solidFill>
          <a:ln>
            <a:noFill/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FIFA23 Player Dataset</a:t>
            </a:r>
          </a:p>
        </p:txBody>
      </p:sp>
      <p:sp>
        <p:nvSpPr>
          <p:cNvPr id="22" name="Flow 22"/>
          <p:cNvSpPr/>
          <p:nvPr/>
        </p:nvSpPr>
        <p:spPr>
          <a:xfrm>
            <a:off x="2377440" y="1847088"/>
            <a:ext cx="3108960" cy="384048"/>
          </a:xfrm>
          <a:prstGeom prst="roundRect">
            <a:avLst>
              <a:gd name="adj" fmla="val 30000"/>
            </a:avLst>
          </a:prstGeom>
          <a:solidFill>
            <a:srgbClr val="1E3A8A"/>
          </a:solidFill>
          <a:ln>
            <a:noFill/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Data Preprocessing</a:t>
            </a:r>
          </a:p>
        </p:txBody>
      </p:sp>
      <p:sp>
        <p:nvSpPr>
          <p:cNvPr id="23" name="Flow 23"/>
          <p:cNvSpPr/>
          <p:nvPr/>
        </p:nvSpPr>
        <p:spPr>
          <a:xfrm>
            <a:off x="2377440" y="2414016"/>
            <a:ext cx="3108960" cy="384048"/>
          </a:xfrm>
          <a:prstGeom prst="roundRect">
            <a:avLst>
              <a:gd name="adj" fmla="val 30000"/>
            </a:avLst>
          </a:prstGeom>
          <a:solidFill>
            <a:srgbClr val="1E3A8A"/>
          </a:solidFill>
          <a:ln>
            <a:noFill/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Feature Selection</a:t>
            </a:r>
          </a:p>
        </p:txBody>
      </p:sp>
      <p:sp>
        <p:nvSpPr>
          <p:cNvPr id="24" name="Flow 24"/>
          <p:cNvSpPr/>
          <p:nvPr/>
        </p:nvSpPr>
        <p:spPr>
          <a:xfrm>
            <a:off x="2377440" y="2980944"/>
            <a:ext cx="3108960" cy="384048"/>
          </a:xfrm>
          <a:prstGeom prst="roundRect">
            <a:avLst>
              <a:gd name="adj" fmla="val 30000"/>
            </a:avLst>
          </a:prstGeom>
          <a:solidFill>
            <a:srgbClr val="1E3A8A"/>
          </a:solidFill>
          <a:ln>
            <a:noFill/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Standardization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3931920" y="1664208"/>
            <a:ext cx="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cxnSp>
        <p:nvCxnSpPr>
          <p:cNvPr id="26" name="Arrow 26"/>
          <p:cNvCxnSpPr/>
          <p:nvPr/>
        </p:nvCxnSpPr>
        <p:spPr>
          <a:xfrm>
            <a:off x="3931920" y="2231136"/>
            <a:ext cx="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cxnSp>
        <p:nvCxnSpPr>
          <p:cNvPr id="27" name="Arrow 27"/>
          <p:cNvCxnSpPr/>
          <p:nvPr/>
        </p:nvCxnSpPr>
        <p:spPr>
          <a:xfrm>
            <a:off x="3931920" y="2798064"/>
            <a:ext cx="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sp>
        <p:nvSpPr>
          <p:cNvPr id="28" name="Flow 28"/>
          <p:cNvSpPr/>
          <p:nvPr/>
        </p:nvSpPr>
        <p:spPr>
          <a:xfrm>
            <a:off x="1325880" y="3547872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1E3A8A"/>
          </a:solidFill>
          <a:ln>
            <a:noFill/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PCA</a:t>
            </a:r>
          </a:p>
        </p:txBody>
      </p:sp>
      <p:sp>
        <p:nvSpPr>
          <p:cNvPr id="29" name="Flow 29"/>
          <p:cNvSpPr/>
          <p:nvPr/>
        </p:nvSpPr>
        <p:spPr>
          <a:xfrm>
            <a:off x="4251960" y="3547872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22A559"/>
          </a:solidFill>
          <a:ln>
            <a:noFill/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UMAP</a:t>
            </a:r>
          </a:p>
        </p:txBody>
      </p:sp>
      <p:cxnSp>
        <p:nvCxnSpPr>
          <p:cNvPr id="30" name="Arrow 30"/>
          <p:cNvCxnSpPr/>
          <p:nvPr/>
        </p:nvCxnSpPr>
        <p:spPr>
          <a:xfrm flipH="1">
            <a:off x="2468880" y="3364992"/>
            <a:ext cx="109728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cxnSp>
        <p:nvCxnSpPr>
          <p:cNvPr id="31" name="Arrow 31"/>
          <p:cNvCxnSpPr/>
          <p:nvPr/>
        </p:nvCxnSpPr>
        <p:spPr>
          <a:xfrm>
            <a:off x="4297680" y="3364992"/>
            <a:ext cx="109728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sp>
        <p:nvSpPr>
          <p:cNvPr id="32" name="Flow 32"/>
          <p:cNvSpPr/>
          <p:nvPr/>
        </p:nvSpPr>
        <p:spPr>
          <a:xfrm>
            <a:off x="1325880" y="4114800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E3A8A"/>
                </a:solidFill>
                <a:latin typeface="Calibri"/>
                <a:cs typeface="Calibri"/>
              </a:rPr>
              <a:t>2D Plot</a:t>
            </a:r>
          </a:p>
        </p:txBody>
      </p:sp>
      <p:sp>
        <p:nvSpPr>
          <p:cNvPr id="33" name="Flow 33"/>
          <p:cNvSpPr/>
          <p:nvPr/>
        </p:nvSpPr>
        <p:spPr>
          <a:xfrm>
            <a:off x="4251960" y="4114800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22A559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6803F"/>
                </a:solidFill>
                <a:latin typeface="Calibri"/>
                <a:cs typeface="Calibri"/>
              </a:rPr>
              <a:t>2D Plot</a:t>
            </a:r>
          </a:p>
        </p:txBody>
      </p:sp>
      <p:cxnSp>
        <p:nvCxnSpPr>
          <p:cNvPr id="34" name="Arrow 34"/>
          <p:cNvCxnSpPr/>
          <p:nvPr/>
        </p:nvCxnSpPr>
        <p:spPr>
          <a:xfrm>
            <a:off x="2468880" y="3931920"/>
            <a:ext cx="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cxnSp>
        <p:nvCxnSpPr>
          <p:cNvPr id="35" name="Arrow 35"/>
          <p:cNvCxnSpPr/>
          <p:nvPr/>
        </p:nvCxnSpPr>
        <p:spPr>
          <a:xfrm>
            <a:off x="5394960" y="3931920"/>
            <a:ext cx="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sp>
        <p:nvSpPr>
          <p:cNvPr id="36" name="Flow 36"/>
          <p:cNvSpPr/>
          <p:nvPr/>
        </p:nvSpPr>
        <p:spPr>
          <a:xfrm>
            <a:off x="2377440" y="4681728"/>
            <a:ext cx="3108960" cy="384048"/>
          </a:xfrm>
          <a:prstGeom prst="roundRect">
            <a:avLst>
              <a:gd name="adj" fmla="val 30000"/>
            </a:avLst>
          </a:prstGeom>
          <a:solidFill>
            <a:srgbClr val="0B1F44"/>
          </a:solidFill>
          <a:ln>
            <a:noFill/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PCA vs UMAP Comparison</a:t>
            </a:r>
          </a:p>
        </p:txBody>
      </p:sp>
      <p:cxnSp>
        <p:nvCxnSpPr>
          <p:cNvPr id="37" name="Arrow 37"/>
          <p:cNvCxnSpPr/>
          <p:nvPr/>
        </p:nvCxnSpPr>
        <p:spPr>
          <a:xfrm>
            <a:off x="2468880" y="4498848"/>
            <a:ext cx="100584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cxnSp>
        <p:nvCxnSpPr>
          <p:cNvPr id="38" name="Arrow 38"/>
          <p:cNvCxnSpPr/>
          <p:nvPr/>
        </p:nvCxnSpPr>
        <p:spPr>
          <a:xfrm flipH="1">
            <a:off x="4389120" y="4498848"/>
            <a:ext cx="100584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sp>
        <p:nvSpPr>
          <p:cNvPr id="39" name="Flow 39"/>
          <p:cNvSpPr/>
          <p:nvPr/>
        </p:nvSpPr>
        <p:spPr>
          <a:xfrm>
            <a:off x="2377440" y="5248656"/>
            <a:ext cx="3108960" cy="384048"/>
          </a:xfrm>
          <a:prstGeom prst="roundRect">
            <a:avLst>
              <a:gd name="adj" fmla="val 30000"/>
            </a:avLst>
          </a:prstGeom>
          <a:solidFill>
            <a:srgbClr val="22A559"/>
          </a:solidFill>
          <a:ln>
            <a:noFill/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45720" tIns="0" rIns="4572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Player Similarities &amp; Patterns</a:t>
            </a:r>
          </a:p>
        </p:txBody>
      </p:sp>
      <p:cxnSp>
        <p:nvCxnSpPr>
          <p:cNvPr id="40" name="Arrow 40"/>
          <p:cNvCxnSpPr/>
          <p:nvPr/>
        </p:nvCxnSpPr>
        <p:spPr>
          <a:xfrm>
            <a:off x="3931920" y="5065776"/>
            <a:ext cx="0" cy="182880"/>
          </a:xfrm>
          <a:prstGeom prst="line">
            <a:avLst/>
          </a:prstGeom>
          <a:ln w="25400">
            <a:solidFill>
              <a:srgbClr val="0B1F44"/>
            </a:solidFill>
            <a:tailEnd type="triangle" w="med" len="med"/>
          </a:ln>
        </p:spPr>
      </p:cxnSp>
      <p:sp>
        <p:nvSpPr>
          <p:cNvPr id="41" name="Card 41"/>
          <p:cNvSpPr/>
          <p:nvPr/>
        </p:nvSpPr>
        <p:spPr>
          <a:xfrm>
            <a:off x="7818120" y="1280160"/>
            <a:ext cx="37947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8046720" y="141732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0B1F44"/>
                </a:solidFill>
                <a:latin typeface="Calibri"/>
                <a:cs typeface="Calibri"/>
              </a:rPr>
              <a:t>In short</a:t>
            </a:r>
          </a:p>
        </p:txBody>
      </p:sp>
      <p:sp>
        <p:nvSpPr>
          <p:cNvPr id="43" name="Stat 43"/>
          <p:cNvSpPr/>
          <p:nvPr/>
        </p:nvSpPr>
        <p:spPr>
          <a:xfrm>
            <a:off x="8092440" y="1920240"/>
            <a:ext cx="1234440" cy="914400"/>
          </a:xfrm>
          <a:prstGeom prst="roundRect">
            <a:avLst>
              <a:gd name="adj" fmla="val 15000"/>
            </a:avLst>
          </a:prstGeom>
          <a:solidFill>
            <a:srgbClr val="0B1F44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7D</a:t>
            </a:r>
          </a:p>
        </p:txBody>
      </p:sp>
      <p:sp>
        <p:nvSpPr>
          <p:cNvPr id="44" name="Arrow 44"/>
          <p:cNvSpPr/>
          <p:nvPr/>
        </p:nvSpPr>
        <p:spPr>
          <a:xfrm>
            <a:off x="9418320" y="2194560"/>
            <a:ext cx="457200" cy="365760"/>
          </a:xfrm>
          <a:prstGeom prst="rightArrow">
            <a:avLst/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5" name="Stat 45"/>
          <p:cNvSpPr/>
          <p:nvPr/>
        </p:nvSpPr>
        <p:spPr>
          <a:xfrm>
            <a:off x="9966960" y="1920240"/>
            <a:ext cx="1234440" cy="914400"/>
          </a:xfrm>
          <a:prstGeom prst="roundRect">
            <a:avLst>
              <a:gd name="adj" fmla="val 15000"/>
            </a:avLst>
          </a:prstGeom>
          <a:solidFill>
            <a:srgbClr val="22A559"/>
          </a:solidFill>
          <a:ln>
            <a:noFill/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2D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046720" y="3063240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dirty="0">
                <a:solidFill>
                  <a:srgbClr val="1F2937"/>
                </a:solidFill>
                <a:latin typeface="Calibri"/>
                <a:cs typeface="Calibri"/>
              </a:rPr>
              <a:t>The system converts the original seven-dimensional player attribute data into two-dimensional visual representations using PCA and UMAP.</a:t>
            </a:r>
          </a:p>
        </p:txBody>
      </p:sp>
      <p:sp>
        <p:nvSpPr>
          <p:cNvPr id="47" name="Legend 47"/>
          <p:cNvSpPr/>
          <p:nvPr/>
        </p:nvSpPr>
        <p:spPr>
          <a:xfrm>
            <a:off x="8046720" y="4572000"/>
            <a:ext cx="1600200" cy="777240"/>
          </a:xfrm>
          <a:prstGeom prst="roundRect">
            <a:avLst>
              <a:gd name="adj" fmla="val 15000"/>
            </a:avLst>
          </a:prstGeom>
          <a:solidFill>
            <a:srgbClr val="EEF3FA"/>
          </a:solidFill>
          <a:ln w="12700">
            <a:solidFill>
              <a:srgbClr val="1E3A8A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E3A8A"/>
                </a:solidFill>
                <a:latin typeface="Calibri"/>
                <a:cs typeface="Calibri"/>
              </a:rPr>
              <a:t>PCA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B85"/>
                </a:solidFill>
                <a:latin typeface="Calibri"/>
                <a:cs typeface="Calibri"/>
              </a:rPr>
              <a:t>Linear</a:t>
            </a:r>
          </a:p>
        </p:txBody>
      </p:sp>
      <p:sp>
        <p:nvSpPr>
          <p:cNvPr id="48" name="Legend 48"/>
          <p:cNvSpPr/>
          <p:nvPr/>
        </p:nvSpPr>
        <p:spPr>
          <a:xfrm>
            <a:off x="9784080" y="4572000"/>
            <a:ext cx="1600200" cy="777240"/>
          </a:xfrm>
          <a:prstGeom prst="roundRect">
            <a:avLst>
              <a:gd name="adj" fmla="val 15000"/>
            </a:avLst>
          </a:prstGeom>
          <a:solidFill>
            <a:srgbClr val="E6F5EC"/>
          </a:solidFill>
          <a:ln w="12700">
            <a:solidFill>
              <a:srgbClr val="22A559"/>
            </a:solidFill>
          </a:ln>
        </p:spPr>
        <p:txBody>
          <a:bodyPr wrap="square" lIns="73152" tIns="36576" rIns="73152" bIns="36576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6803F"/>
                </a:solidFill>
                <a:latin typeface="Calibri"/>
                <a:cs typeface="Calibri"/>
              </a:rPr>
              <a:t>UMAP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>
                <a:solidFill>
                  <a:srgbClr val="5B6B85"/>
                </a:solidFill>
                <a:latin typeface="Calibri"/>
                <a:cs typeface="Calibri"/>
              </a:rPr>
              <a:t>Nonlinear</a:t>
            </a:r>
          </a:p>
        </p:txBody>
      </p:sp>
    </p:spTree>
    <p:extLst>
      <p:ext uri="{BB962C8B-B14F-4D97-AF65-F5344CB8AC3E}">
        <p14:creationId xmlns:p14="http://schemas.microsoft.com/office/powerpoint/2010/main" val="1050238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B12-B1C5-EAAF-3801-24EB3372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0" y="274320"/>
            <a:ext cx="9079992" cy="777240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i="0" dirty="0">
                <a:solidFill>
                  <a:srgbClr val="0B1F44"/>
                </a:solidFill>
                <a:latin typeface="Calibri"/>
                <a:cs typeface="Calibri"/>
              </a:rPr>
              <a:t>6. Expected Result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6A50F-24A9-8596-5039-AD9A6BA2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29-09-2026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A01E2-1FF9-5D78-E2DE-74ABBEC8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0BFE-4CC6-6B70-BE50-158E40AE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21" name="Card 21"/>
          <p:cNvSpPr/>
          <p:nvPr/>
        </p:nvSpPr>
        <p:spPr>
          <a:xfrm>
            <a:off x="548640" y="12801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2" name="Badge 22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1520" y="210312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2937"/>
                </a:solidFill>
                <a:latin typeface="Calibri"/>
                <a:cs typeface="Calibri"/>
              </a:rPr>
              <a:t>Reduce the dimensionality of the FIFA23 player dataset.</a:t>
            </a:r>
          </a:p>
        </p:txBody>
      </p:sp>
      <p:sp>
        <p:nvSpPr>
          <p:cNvPr id="24" name="Card 24"/>
          <p:cNvSpPr/>
          <p:nvPr/>
        </p:nvSpPr>
        <p:spPr>
          <a:xfrm>
            <a:off x="3367735" y="12801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5" name="Badge 25"/>
          <p:cNvSpPr/>
          <p:nvPr/>
        </p:nvSpPr>
        <p:spPr>
          <a:xfrm>
            <a:off x="3550615" y="1463040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50615" y="210312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2937"/>
                </a:solidFill>
                <a:latin typeface="Calibri"/>
                <a:cs typeface="Calibri"/>
              </a:rPr>
              <a:t>Represent multiple player attributes in a 2D visualization.</a:t>
            </a:r>
          </a:p>
        </p:txBody>
      </p:sp>
      <p:sp>
        <p:nvSpPr>
          <p:cNvPr id="27" name="Card 27"/>
          <p:cNvSpPr/>
          <p:nvPr/>
        </p:nvSpPr>
        <p:spPr>
          <a:xfrm>
            <a:off x="6186830" y="12801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28" name="Badge 28"/>
          <p:cNvSpPr/>
          <p:nvPr/>
        </p:nvSpPr>
        <p:spPr>
          <a:xfrm>
            <a:off x="6369710" y="1463040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69710" y="210312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2937"/>
                </a:solidFill>
                <a:latin typeface="Calibri"/>
                <a:cs typeface="Calibri"/>
              </a:rPr>
              <a:t>Help identify players with similar attribute profiles.</a:t>
            </a:r>
          </a:p>
        </p:txBody>
      </p:sp>
      <p:sp>
        <p:nvSpPr>
          <p:cNvPr id="30" name="Card 30"/>
          <p:cNvSpPr/>
          <p:nvPr/>
        </p:nvSpPr>
        <p:spPr>
          <a:xfrm>
            <a:off x="9005926" y="12801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1" name="Badge 31"/>
          <p:cNvSpPr/>
          <p:nvPr/>
        </p:nvSpPr>
        <p:spPr>
          <a:xfrm>
            <a:off x="9188806" y="1463040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88806" y="210312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2937"/>
                </a:solidFill>
                <a:latin typeface="Calibri"/>
                <a:cs typeface="Calibri"/>
              </a:rPr>
              <a:t>Reveal groups and patterns within the player dataset.</a:t>
            </a:r>
          </a:p>
        </p:txBody>
      </p:sp>
      <p:sp>
        <p:nvSpPr>
          <p:cNvPr id="33" name="Card 33"/>
          <p:cNvSpPr/>
          <p:nvPr/>
        </p:nvSpPr>
        <p:spPr>
          <a:xfrm>
            <a:off x="548640" y="30632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4" name="Badge 34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1520" y="38862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2937"/>
                </a:solidFill>
                <a:latin typeface="Calibri"/>
                <a:cs typeface="Calibri"/>
              </a:rPr>
              <a:t>Generate separate PCA and UMAP visualizations.</a:t>
            </a:r>
          </a:p>
        </p:txBody>
      </p:sp>
      <p:sp>
        <p:nvSpPr>
          <p:cNvPr id="36" name="Card 36"/>
          <p:cNvSpPr/>
          <p:nvPr/>
        </p:nvSpPr>
        <p:spPr>
          <a:xfrm>
            <a:off x="4297680" y="30632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37" name="Badge 37"/>
          <p:cNvSpPr/>
          <p:nvPr/>
        </p:nvSpPr>
        <p:spPr>
          <a:xfrm>
            <a:off x="4480560" y="3246120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80560" y="38862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2937"/>
                </a:solidFill>
                <a:latin typeface="Calibri"/>
                <a:cs typeface="Calibri"/>
              </a:rPr>
              <a:t>Allow comparison between PCA and UMAP representations.</a:t>
            </a:r>
          </a:p>
        </p:txBody>
      </p:sp>
      <p:sp>
        <p:nvSpPr>
          <p:cNvPr id="39" name="Card 39"/>
          <p:cNvSpPr/>
          <p:nvPr/>
        </p:nvSpPr>
        <p:spPr>
          <a:xfrm>
            <a:off x="8046720" y="306324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5"/>
            </a:solidFill>
          </a:ln>
          <a:effectLst>
            <a:outerShdw blurRad="76200" dist="25400" dir="5400000" algn="t" rotWithShape="0">
              <a:srgbClr val="0B1F44">
                <a:alpha val="16000"/>
              </a:srgbClr>
            </a:outerShdw>
          </a:effectLst>
        </p:spPr>
        <p:txBody>
          <a:bodyPr wrap="square" lIns="73152" tIns="36576" rIns="73152" bIns="36576" anchor="ctr">
            <a:noAutofit/>
          </a:bodyPr>
          <a:lstStyle/>
          <a:p>
            <a:endParaRPr lang="en-US"/>
          </a:p>
        </p:txBody>
      </p:sp>
      <p:sp>
        <p:nvSpPr>
          <p:cNvPr id="40" name="Badge 40"/>
          <p:cNvSpPr/>
          <p:nvPr/>
        </p:nvSpPr>
        <p:spPr>
          <a:xfrm>
            <a:off x="8229600" y="3246120"/>
            <a:ext cx="502920" cy="502920"/>
          </a:xfrm>
          <a:prstGeom prst="ellipse">
            <a:avLst/>
          </a:prstGeom>
          <a:solidFill>
            <a:srgbClr val="22A559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29600" y="38862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F2937"/>
                </a:solidFill>
                <a:latin typeface="Calibri"/>
                <a:cs typeface="Calibri"/>
              </a:rPr>
              <a:t>Make multidimensional player data easier to visually explore and analyze.</a:t>
            </a:r>
          </a:p>
        </p:txBody>
      </p:sp>
      <p:sp>
        <p:nvSpPr>
          <p:cNvPr id="42" name="Banner 42"/>
          <p:cNvSpPr/>
          <p:nvPr/>
        </p:nvSpPr>
        <p:spPr>
          <a:xfrm>
            <a:off x="548640" y="4709160"/>
            <a:ext cx="11064240" cy="960120"/>
          </a:xfrm>
          <a:prstGeom prst="roundRect">
            <a:avLst>
              <a:gd name="adj" fmla="val 10000"/>
            </a:avLst>
          </a:prstGeom>
          <a:solidFill>
            <a:srgbClr val="0B1F44"/>
          </a:solidFill>
          <a:ln>
            <a:noFill/>
          </a:ln>
        </p:spPr>
        <p:txBody>
          <a:bodyPr wrap="square" lIns="365760" tIns="45720" rIns="36576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The project provides a simplified 2D visual representation of FIFA23 player attributes, helping analysts explore player similarities, groups, and patterns using PCA and UMAP.</a:t>
            </a:r>
          </a:p>
        </p:txBody>
      </p:sp>
    </p:spTree>
    <p:extLst>
      <p:ext uri="{BB962C8B-B14F-4D97-AF65-F5344CB8AC3E}">
        <p14:creationId xmlns:p14="http://schemas.microsoft.com/office/powerpoint/2010/main" val="105023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8686</TotalTime>
  <Words>746</Words>
  <Application>Microsoft Office PowerPoint</Application>
  <PresentationFormat>Widescreen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 Display</vt:lpstr>
      <vt:lpstr>Arial</vt:lpstr>
      <vt:lpstr>Calibri</vt:lpstr>
      <vt:lpstr>Calibri Light</vt:lpstr>
      <vt:lpstr>Wingdings</vt:lpstr>
      <vt:lpstr>Office Theme</vt:lpstr>
      <vt:lpstr>Custom Design</vt:lpstr>
      <vt:lpstr> </vt:lpstr>
      <vt:lpstr>                             Introduction</vt:lpstr>
      <vt:lpstr>                                          Abstract</vt:lpstr>
      <vt:lpstr>                         Existing System</vt:lpstr>
      <vt:lpstr>                        Proposed System</vt:lpstr>
      <vt:lpstr>                           Flow Diagram</vt:lpstr>
      <vt:lpstr>                             Algorithm </vt:lpstr>
      <vt:lpstr>                          Expected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Ili Harshika</cp:lastModifiedBy>
  <cp:revision>103</cp:revision>
  <dcterms:created xsi:type="dcterms:W3CDTF">2022-05-20T10:20:31Z</dcterms:created>
  <dcterms:modified xsi:type="dcterms:W3CDTF">2026-08-26T15:28:17Z</dcterms:modified>
</cp:coreProperties>
</file>